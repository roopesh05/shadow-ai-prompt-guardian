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1645920"/>
            <a:ext cx="8899855" cy="1645920"/>
          </a:xfrm>
          <a:prstGeom prst="rect">
            <a:avLst/>
          </a:prstGeom>
          <a:noFill/>
        </p:spPr>
        <p:txBody>
          <a:bodyPr wrap="square">
            <a:spAutoFit/>
          </a:bodyPr>
          <a:lstStyle/>
          <a:p>
            <a:pPr algn="ctr">
              <a:defRPr sz="3600" b="1">
                <a:solidFill>
                  <a:srgbClr val="000000"/>
                </a:solidFill>
                <a:latin typeface="Times New Roman"/>
              </a:defRPr>
            </a:pPr>
            <a:r>
              <a:t>Mini Project Review</a:t>
            </a:r>
          </a:p>
          <a:p>
            <a:pPr algn="ctr">
              <a:spcBef>
                <a:spcPts val="1400"/>
              </a:spcBef>
              <a:defRPr sz="3200" b="1">
                <a:solidFill>
                  <a:srgbClr val="000000"/>
                </a:solidFill>
                <a:latin typeface="Times New Roman"/>
              </a:defRPr>
            </a:pPr>
            <a:r>
              <a:t>Shadow AI Prompt Guardian</a:t>
            </a:r>
          </a:p>
        </p:txBody>
      </p:sp>
      <p:sp>
        <p:nvSpPr>
          <p:cNvPr id="5" name="TextBox 4"/>
          <p:cNvSpPr txBox="1"/>
          <p:nvPr/>
        </p:nvSpPr>
        <p:spPr>
          <a:xfrm>
            <a:off x="548640" y="4937760"/>
            <a:ext cx="4114800" cy="1371600"/>
          </a:xfrm>
          <a:prstGeom prst="rect">
            <a:avLst/>
          </a:prstGeom>
          <a:noFill/>
        </p:spPr>
        <p:txBody>
          <a:bodyPr wrap="square">
            <a:spAutoFit/>
          </a:bodyPr>
          <a:lstStyle/>
          <a:p>
            <a:pPr>
              <a:defRPr sz="1800">
                <a:solidFill>
                  <a:srgbClr val="000000"/>
                </a:solidFill>
                <a:latin typeface="Times New Roman"/>
              </a:defRPr>
            </a:pPr>
            <a:r>
              <a:t>Under the Guidance of:</a:t>
            </a:r>
          </a:p>
          <a:p>
            <a:pPr>
              <a:spcBef>
                <a:spcPts val="400"/>
              </a:spcBef>
              <a:defRPr sz="1800">
                <a:solidFill>
                  <a:srgbClr val="000000"/>
                </a:solidFill>
                <a:latin typeface="Times New Roman"/>
              </a:defRPr>
            </a:pPr>
            <a:r>
              <a:t>Mr. NaveenRaj AP/CSE(IOT)</a:t>
            </a:r>
          </a:p>
        </p:txBody>
      </p:sp>
      <p:sp>
        <p:nvSpPr>
          <p:cNvPr id="6" name="TextBox 5"/>
          <p:cNvSpPr txBox="1"/>
          <p:nvPr/>
        </p:nvSpPr>
        <p:spPr>
          <a:xfrm>
            <a:off x="7498079" y="4114800"/>
            <a:ext cx="4389120" cy="2286000"/>
          </a:xfrm>
          <a:prstGeom prst="rect">
            <a:avLst/>
          </a:prstGeom>
          <a:noFill/>
        </p:spPr>
        <p:txBody>
          <a:bodyPr wrap="square">
            <a:spAutoFit/>
          </a:bodyPr>
          <a:lstStyle/>
          <a:p>
            <a:pPr>
              <a:defRPr sz="1800" b="1">
                <a:solidFill>
                  <a:srgbClr val="000000"/>
                </a:solidFill>
                <a:latin typeface="Times New Roman"/>
              </a:defRPr>
            </a:pPr>
            <a:r>
              <a:t>Team Members:</a:t>
            </a:r>
          </a:p>
          <a:p>
            <a:pPr>
              <a:spcBef>
                <a:spcPts val="400"/>
              </a:spcBef>
              <a:defRPr sz="1700">
                <a:solidFill>
                  <a:srgbClr val="000000"/>
                </a:solidFill>
                <a:latin typeface="Times New Roman"/>
              </a:defRPr>
            </a:pPr>
            <a:r>
              <a:t>Ram Sakthi Sharumathi M (713324SB041)</a:t>
            </a:r>
          </a:p>
          <a:p>
            <a:pPr>
              <a:spcBef>
                <a:spcPts val="400"/>
              </a:spcBef>
              <a:defRPr sz="1700">
                <a:solidFill>
                  <a:srgbClr val="000000"/>
                </a:solidFill>
                <a:latin typeface="Times New Roman"/>
              </a:defRPr>
            </a:pPr>
            <a:r>
              <a:t>Roopesh S N (713324SB044)</a:t>
            </a:r>
          </a:p>
          <a:p>
            <a:pPr>
              <a:spcBef>
                <a:spcPts val="400"/>
              </a:spcBef>
              <a:defRPr sz="1700">
                <a:solidFill>
                  <a:srgbClr val="000000"/>
                </a:solidFill>
                <a:latin typeface="Times New Roman"/>
              </a:defRPr>
            </a:pPr>
            <a:r>
              <a:t>Sanjeevkumar P (713324SB046)</a:t>
            </a:r>
          </a:p>
          <a:p>
            <a:pPr>
              <a:spcBef>
                <a:spcPts val="400"/>
              </a:spcBef>
              <a:defRPr sz="1700">
                <a:solidFill>
                  <a:srgbClr val="000000"/>
                </a:solidFill>
                <a:latin typeface="Times New Roman"/>
              </a:defRPr>
            </a:pPr>
            <a:r>
              <a:t>Saravana Kumar M (713324SB048)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Problem Statement</a:t>
            </a:r>
          </a:p>
        </p:txBody>
      </p:sp>
      <p:sp>
        <p:nvSpPr>
          <p:cNvPr id="5" name="TextBox 4"/>
          <p:cNvSpPr txBox="1"/>
          <p:nvPr/>
        </p:nvSpPr>
        <p:spPr>
          <a:xfrm>
            <a:off x="1097280" y="1645920"/>
            <a:ext cx="9997135" cy="4389120"/>
          </a:xfrm>
          <a:prstGeom prst="rect">
            <a:avLst/>
          </a:prstGeom>
          <a:noFill/>
        </p:spPr>
        <p:txBody>
          <a:bodyPr wrap="square">
            <a:spAutoFit/>
          </a:bodyPr>
          <a:lstStyle/>
          <a:p>
            <a:pPr>
              <a:lnSpc>
                <a:spcPct val="130000"/>
              </a:lnSpc>
              <a:spcAft>
                <a:spcPts val="2400"/>
              </a:spcAft>
              <a:defRPr sz="2100">
                <a:solidFill>
                  <a:srgbClr val="000000"/>
                </a:solidFill>
                <a:latin typeface="Times New Roman"/>
              </a:defRPr>
            </a:pPr>
            <a:r>
              <a:t>The increasing use of public AI chatbots creates a risk of accidentally sharing sensitive information. Users may unknowingly paste API keys, passwords, personal data, source code, or confidential business information into AI prompts. Once the prompt is submitted, this information may be transmitted to an external AI service.</a:t>
            </a:r>
          </a:p>
          <a:p>
            <a:pPr>
              <a:lnSpc>
                <a:spcPct val="130000"/>
              </a:lnSpc>
              <a:defRPr sz="2100">
                <a:solidFill>
                  <a:srgbClr val="000000"/>
                </a:solidFill>
                <a:latin typeface="Times New Roman"/>
              </a:defRPr>
            </a:pPr>
            <a:r>
              <a:t>Traditional DLP solutions may require additional network infrastructure or centralized monitoring. Therefore, a lightweight client-side solution is needed to detect and prevent sensitive data leakage before the prompt is transmitted.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Abstract</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800"/>
              </a:spcAft>
              <a:defRPr sz="1800">
                <a:latin typeface="Times New Roman"/>
              </a:defRPr>
            </a:pPr>
            <a:r>
              <a:rPr>
                <a:solidFill>
                  <a:srgbClr val="1E293B"/>
                </a:solidFill>
              </a:rPr>
              <a:t>• SENTINEL is a client-side Data Loss Prevention (DLP) browser extension.</a:t>
            </a:r>
          </a:p>
          <a:p>
            <a:pPr>
              <a:lnSpc>
                <a:spcPct val="120000"/>
              </a:lnSpc>
              <a:spcAft>
                <a:spcPts val="800"/>
              </a:spcAft>
              <a:defRPr sz="1800">
                <a:latin typeface="Times New Roman"/>
              </a:defRPr>
            </a:pPr>
            <a:r>
              <a:rPr>
                <a:solidFill>
                  <a:srgbClr val="1E293B"/>
                </a:solidFill>
              </a:rPr>
              <a:t>• It protects sensitive information entered into public AI chatbots.</a:t>
            </a:r>
          </a:p>
          <a:p>
            <a:pPr>
              <a:lnSpc>
                <a:spcPct val="120000"/>
              </a:lnSpc>
              <a:spcAft>
                <a:spcPts val="800"/>
              </a:spcAft>
              <a:defRPr sz="1800">
                <a:latin typeface="Times New Roman"/>
              </a:defRPr>
            </a:pPr>
            <a:r>
              <a:rPr>
                <a:solidFill>
                  <a:srgbClr val="1E293B"/>
                </a:solidFill>
              </a:rPr>
              <a:t>• It prevents accidental sharing of credentials, PII, source code and confidential data.</a:t>
            </a:r>
          </a:p>
          <a:p>
            <a:pPr>
              <a:lnSpc>
                <a:spcPct val="120000"/>
              </a:lnSpc>
              <a:spcAft>
                <a:spcPts val="800"/>
              </a:spcAft>
              <a:defRPr sz="1800">
                <a:latin typeface="Times New Roman"/>
              </a:defRPr>
            </a:pPr>
            <a:r>
              <a:rPr>
                <a:solidFill>
                  <a:srgbClr val="1E293B"/>
                </a:solidFill>
              </a:rPr>
              <a:t>• It works directly inside the browser before information is transmitted.</a:t>
            </a:r>
          </a:p>
          <a:p>
            <a:pPr>
              <a:lnSpc>
                <a:spcPct val="120000"/>
              </a:lnSpc>
              <a:spcAft>
                <a:spcPts val="800"/>
              </a:spcAft>
              <a:defRPr sz="1800">
                <a:latin typeface="Times New Roman"/>
              </a:defRPr>
            </a:pPr>
            <a:r>
              <a:rPr>
                <a:solidFill>
                  <a:srgbClr val="1E293B"/>
                </a:solidFill>
              </a:rPr>
              <a:t>• It supports browser-based AI platforms such as ChatGPT, Claude and Gemini.</a:t>
            </a:r>
          </a:p>
          <a:p>
            <a:pPr>
              <a:lnSpc>
                <a:spcPct val="120000"/>
              </a:lnSpc>
              <a:spcAft>
                <a:spcPts val="800"/>
              </a:spcAft>
              <a:defRPr sz="1800">
                <a:latin typeface="Times New Roman"/>
              </a:defRPr>
            </a:pPr>
            <a:r>
              <a:rPr>
                <a:solidFill>
                  <a:srgbClr val="1E293B"/>
                </a:solidFill>
              </a:rPr>
              <a:t>• SENTINEL uses a multi-layer detection engine to identify sensitive information.</a:t>
            </a:r>
          </a:p>
          <a:p>
            <a:pPr>
              <a:lnSpc>
                <a:spcPct val="120000"/>
              </a:lnSpc>
              <a:spcAft>
                <a:spcPts val="800"/>
              </a:spcAft>
              <a:defRPr sz="1800">
                <a:latin typeface="Times New Roman"/>
              </a:defRPr>
            </a:pPr>
            <a:r>
              <a:rPr>
                <a:solidFill>
                  <a:srgbClr val="1E293B"/>
                </a:solidFill>
              </a:rPr>
              <a:t>• More than 150 signature patterns are used to detect known sensitive data.</a:t>
            </a:r>
          </a:p>
          <a:p>
            <a:pPr>
              <a:lnSpc>
                <a:spcPct val="120000"/>
              </a:lnSpc>
              <a:spcAft>
                <a:spcPts val="800"/>
              </a:spcAft>
              <a:defRPr sz="1800">
                <a:latin typeface="Times New Roman"/>
              </a:defRPr>
            </a:pPr>
            <a:r>
              <a:rPr>
                <a:solidFill>
                  <a:srgbClr val="1E293B"/>
                </a:solidFill>
              </a:rPr>
              <a:t>• Shannon Entropy is used to identify possible unknown secrets.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Abstract</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700"/>
              </a:spcAft>
              <a:defRPr sz="1700">
                <a:latin typeface="Times New Roman"/>
              </a:defRPr>
            </a:pPr>
            <a:r>
              <a:rPr>
                <a:solidFill>
                  <a:srgbClr val="1E293B"/>
                </a:solidFill>
              </a:rPr>
              <a:t>• The Luhn Algorithm is used to validate payment-card candidates.</a:t>
            </a:r>
          </a:p>
          <a:p>
            <a:pPr>
              <a:lnSpc>
                <a:spcPct val="120000"/>
              </a:lnSpc>
              <a:spcAft>
                <a:spcPts val="700"/>
              </a:spcAft>
              <a:defRPr sz="1700">
                <a:latin typeface="Times New Roman"/>
              </a:defRPr>
            </a:pPr>
            <a:r>
              <a:rPr>
                <a:solidFill>
                  <a:srgbClr val="1E293B"/>
                </a:solidFill>
              </a:rPr>
              <a:t>• PII, passwords, credentials and confidential information are detected locally.</a:t>
            </a:r>
          </a:p>
          <a:p>
            <a:pPr>
              <a:lnSpc>
                <a:spcPct val="120000"/>
              </a:lnSpc>
              <a:spcAft>
                <a:spcPts val="700"/>
              </a:spcAft>
              <a:defRPr sz="1700">
                <a:latin typeface="Times New Roman"/>
              </a:defRPr>
            </a:pPr>
            <a:r>
              <a:rPr>
                <a:solidFill>
                  <a:srgbClr val="1E293B"/>
                </a:solidFill>
              </a:rPr>
              <a:t>• Text normalization helps detect simple obfuscation techniques.</a:t>
            </a:r>
          </a:p>
          <a:p>
            <a:pPr>
              <a:lnSpc>
                <a:spcPct val="120000"/>
              </a:lnSpc>
              <a:spcAft>
                <a:spcPts val="700"/>
              </a:spcAft>
              <a:defRPr sz="1700">
                <a:latin typeface="Times New Roman"/>
              </a:defRPr>
            </a:pPr>
            <a:r>
              <a:rPr>
                <a:solidFill>
                  <a:srgbClr val="1E293B"/>
                </a:solidFill>
              </a:rPr>
              <a:t>• High-risk prompts can be blocked before they are transmitted.</a:t>
            </a:r>
          </a:p>
          <a:p>
            <a:pPr>
              <a:lnSpc>
                <a:spcPct val="120000"/>
              </a:lnSpc>
              <a:spcAft>
                <a:spcPts val="700"/>
              </a:spcAft>
              <a:defRPr sz="1700">
                <a:latin typeface="Times New Roman"/>
              </a:defRPr>
            </a:pPr>
            <a:r>
              <a:rPr>
                <a:solidFill>
                  <a:srgbClr val="1E293B"/>
                </a:solidFill>
              </a:rPr>
              <a:t>• Explainable warnings show users why their prompt was flagged.</a:t>
            </a:r>
          </a:p>
          <a:p>
            <a:pPr>
              <a:lnSpc>
                <a:spcPct val="120000"/>
              </a:lnSpc>
              <a:spcAft>
                <a:spcPts val="700"/>
              </a:spcAft>
              <a:defRPr sz="1700">
                <a:latin typeface="Times New Roman"/>
              </a:defRPr>
            </a:pPr>
            <a:r>
              <a:rPr>
                <a:solidFill>
                  <a:srgbClr val="1E293B"/>
                </a:solidFill>
              </a:rPr>
              <a:t>• Auto-Redaction replaces sensitive values with safe placeholders.</a:t>
            </a:r>
          </a:p>
          <a:p>
            <a:pPr>
              <a:lnSpc>
                <a:spcPct val="120000"/>
              </a:lnSpc>
              <a:spcAft>
                <a:spcPts val="700"/>
              </a:spcAft>
              <a:defRPr sz="1700">
                <a:latin typeface="Times New Roman"/>
              </a:defRPr>
            </a:pPr>
            <a:r>
              <a:rPr>
                <a:solidFill>
                  <a:srgbClr val="1E293B"/>
                </a:solidFill>
              </a:rPr>
              <a:t>• Masked security events are stored locally using SHA-256 hash chaining.</a:t>
            </a:r>
          </a:p>
          <a:p>
            <a:pPr>
              <a:lnSpc>
                <a:spcPct val="120000"/>
              </a:lnSpc>
              <a:spcAft>
                <a:spcPts val="700"/>
              </a:spcAft>
              <a:defRPr sz="1700">
                <a:latin typeface="Times New Roman"/>
              </a:defRPr>
            </a:pPr>
            <a:r>
              <a:rPr>
                <a:solidFill>
                  <a:srgbClr val="1E293B"/>
                </a:solidFill>
              </a:rPr>
              <a:t>• Prompt data and telemetry are not sent to external servers.</a:t>
            </a:r>
          </a:p>
          <a:p>
            <a:pPr>
              <a:lnSpc>
                <a:spcPct val="120000"/>
              </a:lnSpc>
              <a:spcAft>
                <a:spcPts val="700"/>
              </a:spcAft>
              <a:defRPr sz="1700">
                <a:latin typeface="Times New Roman"/>
              </a:defRPr>
            </a:pPr>
            <a:r>
              <a:rPr>
                <a:solidFill>
                  <a:srgbClr val="1E293B"/>
                </a:solidFill>
              </a:rPr>
              <a:t>• SENTINEL provides a lightweight and privacy-focused approach to AI data protection.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Objectives</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1200"/>
              </a:spcAft>
              <a:defRPr sz="1900">
                <a:latin typeface="Times New Roman"/>
              </a:defRPr>
            </a:pPr>
            <a:r>
              <a:rPr>
                <a:solidFill>
                  <a:srgbClr val="1E293B"/>
                </a:solidFill>
              </a:rPr>
              <a:t>• To detect sensitive information in AI prompts before it is transmitted to external AI services.</a:t>
            </a:r>
          </a:p>
          <a:p>
            <a:pPr>
              <a:lnSpc>
                <a:spcPct val="120000"/>
              </a:lnSpc>
              <a:spcAft>
                <a:spcPts val="1200"/>
              </a:spcAft>
              <a:defRPr sz="1900">
                <a:latin typeface="Times New Roman"/>
              </a:defRPr>
            </a:pPr>
            <a:r>
              <a:rPr>
                <a:solidFill>
                  <a:srgbClr val="1E293B"/>
                </a:solidFill>
              </a:rPr>
              <a:t>• To monitor user inputs and provide real-time security warnings.</a:t>
            </a:r>
          </a:p>
          <a:p>
            <a:pPr>
              <a:lnSpc>
                <a:spcPct val="120000"/>
              </a:lnSpc>
              <a:spcAft>
                <a:spcPts val="1200"/>
              </a:spcAft>
              <a:defRPr sz="1900">
                <a:latin typeface="Times New Roman"/>
              </a:defRPr>
            </a:pPr>
            <a:r>
              <a:rPr>
                <a:solidFill>
                  <a:srgbClr val="1E293B"/>
                </a:solidFill>
              </a:rPr>
              <a:t>• To identify API keys, passwords, PII, payment-card data and other confidential information.</a:t>
            </a:r>
          </a:p>
          <a:p>
            <a:pPr>
              <a:lnSpc>
                <a:spcPct val="120000"/>
              </a:lnSpc>
              <a:spcAft>
                <a:spcPts val="1200"/>
              </a:spcAft>
              <a:defRPr sz="1900">
                <a:latin typeface="Times New Roman"/>
              </a:defRPr>
            </a:pPr>
            <a:r>
              <a:rPr>
                <a:solidFill>
                  <a:srgbClr val="1E293B"/>
                </a:solidFill>
              </a:rPr>
              <a:t>• To calculate a risk score and classify detected information based on severity.</a:t>
            </a:r>
          </a:p>
          <a:p>
            <a:pPr>
              <a:lnSpc>
                <a:spcPct val="120000"/>
              </a:lnSpc>
              <a:spcAft>
                <a:spcPts val="1200"/>
              </a:spcAft>
              <a:defRPr sz="1900">
                <a:latin typeface="Times New Roman"/>
              </a:defRPr>
            </a:pPr>
            <a:r>
              <a:rPr>
                <a:solidFill>
                  <a:srgbClr val="1E293B"/>
                </a:solidFill>
              </a:rPr>
              <a:t>• To block high-risk prompts and prevent accidental data leakage.</a:t>
            </a:r>
          </a:p>
          <a:p>
            <a:pPr>
              <a:lnSpc>
                <a:spcPct val="120000"/>
              </a:lnSpc>
              <a:spcAft>
                <a:spcPts val="1200"/>
              </a:spcAft>
              <a:defRPr sz="1900">
                <a:latin typeface="Times New Roman"/>
              </a:defRPr>
            </a:pPr>
            <a:r>
              <a:rPr>
                <a:solidFill>
                  <a:srgbClr val="1E293B"/>
                </a:solidFill>
              </a:rPr>
              <a:t>• To provide automatic redaction so users can safely submit sanitized prompts.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Literature Survey &amp; Gaps</a:t>
            </a:r>
          </a:p>
        </p:txBody>
      </p:sp>
      <p:sp>
        <p:nvSpPr>
          <p:cNvPr id="5" name="TextBox 4"/>
          <p:cNvSpPr txBox="1"/>
          <p:nvPr/>
        </p:nvSpPr>
        <p:spPr>
          <a:xfrm>
            <a:off x="914400" y="1371600"/>
            <a:ext cx="10362895" cy="5029200"/>
          </a:xfrm>
          <a:prstGeom prst="rect">
            <a:avLst/>
          </a:prstGeom>
          <a:noFill/>
        </p:spPr>
        <p:txBody>
          <a:bodyPr wrap="square">
            <a:spAutoFit/>
          </a:bodyPr>
          <a:lstStyle/>
          <a:p>
            <a:pPr>
              <a:spcAft>
                <a:spcPts val="1000"/>
              </a:spcAft>
              <a:defRPr sz="2000" b="1">
                <a:solidFill>
                  <a:srgbClr val="000000"/>
                </a:solidFill>
                <a:latin typeface="Times New Roman"/>
              </a:defRPr>
            </a:pPr>
            <a:r>
              <a:t>Literature Survey</a:t>
            </a:r>
          </a:p>
          <a:p>
            <a:pPr>
              <a:lnSpc>
                <a:spcPct val="120000"/>
              </a:lnSpc>
              <a:spcAft>
                <a:spcPts val="1000"/>
              </a:spcAft>
              <a:defRPr sz="1800">
                <a:latin typeface="Times New Roman"/>
              </a:defRPr>
            </a:pPr>
            <a:r>
              <a:rPr>
                <a:solidFill>
                  <a:srgbClr val="1E293B"/>
                </a:solidFill>
              </a:rPr>
              <a:t>• Traditional Data Loss Prevention (DLP) systems mainly use network monitoring, proxy servers and centralized security controls.</a:t>
            </a:r>
          </a:p>
          <a:p>
            <a:pPr>
              <a:lnSpc>
                <a:spcPct val="120000"/>
              </a:lnSpc>
              <a:spcAft>
                <a:spcPts val="1000"/>
              </a:spcAft>
              <a:defRPr sz="1800">
                <a:latin typeface="Times New Roman"/>
              </a:defRPr>
            </a:pPr>
            <a:r>
              <a:rPr>
                <a:solidFill>
                  <a:srgbClr val="1E293B"/>
                </a:solidFill>
              </a:rPr>
              <a:t>• Existing security approaches focus on preventing sensitive data from leaving organizational systems.</a:t>
            </a:r>
          </a:p>
          <a:p>
            <a:pPr>
              <a:lnSpc>
                <a:spcPct val="120000"/>
              </a:lnSpc>
              <a:spcAft>
                <a:spcPts val="1000"/>
              </a:spcAft>
              <a:defRPr sz="1800">
                <a:latin typeface="Times New Roman"/>
              </a:defRPr>
            </a:pPr>
            <a:r>
              <a:rPr>
                <a:solidFill>
                  <a:srgbClr val="1E293B"/>
                </a:solidFill>
              </a:rPr>
              <a:t>• AI chatbots introduce a new data-leakage risk because users directly enter information into external AI platforms.</a:t>
            </a:r>
          </a:p>
          <a:p>
            <a:pPr>
              <a:lnSpc>
                <a:spcPct val="120000"/>
              </a:lnSpc>
              <a:spcAft>
                <a:spcPts val="1000"/>
              </a:spcAft>
              <a:defRPr sz="1800">
                <a:latin typeface="Times New Roman"/>
              </a:defRPr>
            </a:pPr>
            <a:r>
              <a:rPr>
                <a:solidFill>
                  <a:srgbClr val="1E293B"/>
                </a:solidFill>
              </a:rPr>
              <a:t>• Existing solutions may not provide real-time, prompt-level protection directly inside the browser.</a:t>
            </a:r>
          </a:p>
          <a:p>
            <a:pPr>
              <a:lnSpc>
                <a:spcPct val="120000"/>
              </a:lnSpc>
              <a:spcAft>
                <a:spcPts val="1000"/>
              </a:spcAft>
              <a:defRPr sz="1800">
                <a:latin typeface="Times New Roman"/>
              </a:defRPr>
            </a:pPr>
            <a:r>
              <a:rPr>
                <a:solidFill>
                  <a:srgbClr val="1E293B"/>
                </a:solidFill>
              </a:rPr>
              <a:t>• There is a need for a lightweight solution specifically designed to inspect AI prompts before transmission.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Literature Survey &amp; Gaps</a:t>
            </a:r>
          </a:p>
        </p:txBody>
      </p:sp>
      <p:sp>
        <p:nvSpPr>
          <p:cNvPr id="5" name="TextBox 4"/>
          <p:cNvSpPr txBox="1"/>
          <p:nvPr/>
        </p:nvSpPr>
        <p:spPr>
          <a:xfrm>
            <a:off x="914400" y="1371600"/>
            <a:ext cx="10362895" cy="5029200"/>
          </a:xfrm>
          <a:prstGeom prst="rect">
            <a:avLst/>
          </a:prstGeom>
          <a:noFill/>
        </p:spPr>
        <p:txBody>
          <a:bodyPr wrap="square">
            <a:spAutoFit/>
          </a:bodyPr>
          <a:lstStyle/>
          <a:p>
            <a:pPr>
              <a:spcAft>
                <a:spcPts val="1000"/>
              </a:spcAft>
              <a:defRPr sz="2000" b="1">
                <a:solidFill>
                  <a:srgbClr val="000000"/>
                </a:solidFill>
                <a:latin typeface="Times New Roman"/>
              </a:defRPr>
            </a:pPr>
            <a:r>
              <a:t>Research Gaps</a:t>
            </a:r>
          </a:p>
          <a:p>
            <a:pPr>
              <a:lnSpc>
                <a:spcPct val="120000"/>
              </a:lnSpc>
              <a:spcAft>
                <a:spcPts val="1200"/>
              </a:spcAft>
              <a:defRPr sz="1800">
                <a:latin typeface="Times New Roman"/>
              </a:defRPr>
            </a:pPr>
            <a:r>
              <a:rPr>
                <a:solidFill>
                  <a:srgbClr val="1E293B"/>
                </a:solidFill>
              </a:rPr>
              <a:t>• Limited client-side protection specifically focused on AI chatbot prompts.</a:t>
            </a:r>
          </a:p>
          <a:p>
            <a:pPr>
              <a:lnSpc>
                <a:spcPct val="120000"/>
              </a:lnSpc>
              <a:spcAft>
                <a:spcPts val="1200"/>
              </a:spcAft>
              <a:defRPr sz="1800">
                <a:latin typeface="Times New Roman"/>
              </a:defRPr>
            </a:pPr>
            <a:r>
              <a:rPr>
                <a:solidFill>
                  <a:srgbClr val="1E293B"/>
                </a:solidFill>
              </a:rPr>
              <a:t>• Lack of immediate detection and blocking before sensitive data is transmitted.</a:t>
            </a:r>
          </a:p>
          <a:p>
            <a:pPr>
              <a:lnSpc>
                <a:spcPct val="120000"/>
              </a:lnSpc>
              <a:spcAft>
                <a:spcPts val="1200"/>
              </a:spcAft>
              <a:defRPr sz="1800">
                <a:latin typeface="Times New Roman"/>
              </a:defRPr>
            </a:pPr>
            <a:r>
              <a:rPr>
                <a:solidFill>
                  <a:srgbClr val="1E293B"/>
                </a:solidFill>
              </a:rPr>
              <a:t>• Limited user-friendly explanations about why a prompt is flagged.</a:t>
            </a:r>
          </a:p>
          <a:p>
            <a:pPr>
              <a:lnSpc>
                <a:spcPct val="120000"/>
              </a:lnSpc>
              <a:spcAft>
                <a:spcPts val="1200"/>
              </a:spcAft>
              <a:defRPr sz="1800">
                <a:latin typeface="Times New Roman"/>
              </a:defRPr>
            </a:pPr>
            <a:r>
              <a:rPr>
                <a:solidFill>
                  <a:srgbClr val="1E293B"/>
                </a:solidFill>
              </a:rPr>
              <a:t>• Lack of simple automatic redaction for detected sensitive information.</a:t>
            </a:r>
          </a:p>
          <a:p>
            <a:pPr>
              <a:lnSpc>
                <a:spcPct val="120000"/>
              </a:lnSpc>
              <a:spcAft>
                <a:spcPts val="1200"/>
              </a:spcAft>
              <a:defRPr sz="1800">
                <a:latin typeface="Times New Roman"/>
              </a:defRPr>
            </a:pPr>
            <a:r>
              <a:rPr>
                <a:solidFill>
                  <a:srgbClr val="1E293B"/>
                </a:solidFill>
              </a:rPr>
              <a:t>• Need for a privacy-focused approach that performs detection locally without sending prompt data to external servers.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Existing Solutions &amp; Limitations</a:t>
            </a:r>
          </a:p>
        </p:txBody>
      </p:sp>
      <p:sp>
        <p:nvSpPr>
          <p:cNvPr id="5" name="TextBox 4"/>
          <p:cNvSpPr txBox="1"/>
          <p:nvPr/>
        </p:nvSpPr>
        <p:spPr>
          <a:xfrm>
            <a:off x="914400" y="1371600"/>
            <a:ext cx="10362895" cy="5029200"/>
          </a:xfrm>
          <a:prstGeom prst="rect">
            <a:avLst/>
          </a:prstGeom>
          <a:noFill/>
        </p:spPr>
        <p:txBody>
          <a:bodyPr wrap="square">
            <a:spAutoFit/>
          </a:bodyPr>
          <a:lstStyle/>
          <a:p>
            <a:pPr>
              <a:spcAft>
                <a:spcPts val="1000"/>
              </a:spcAft>
              <a:defRPr sz="2000" b="1">
                <a:solidFill>
                  <a:srgbClr val="000000"/>
                </a:solidFill>
                <a:latin typeface="Times New Roman"/>
              </a:defRPr>
            </a:pPr>
            <a:r>
              <a:t>Existing Solutions</a:t>
            </a:r>
          </a:p>
          <a:p>
            <a:pPr>
              <a:lnSpc>
                <a:spcPct val="120000"/>
              </a:lnSpc>
              <a:spcAft>
                <a:spcPts val="1000"/>
              </a:spcAft>
              <a:defRPr sz="1800">
                <a:latin typeface="Times New Roman"/>
              </a:defRPr>
            </a:pPr>
            <a:r>
              <a:t>• </a:t>
            </a:r>
            <a:r>
              <a:rPr b="1">
                <a:solidFill>
                  <a:srgbClr val="000000"/>
                </a:solidFill>
              </a:rPr>
              <a:t>Traditional DLP Systems: </a:t>
            </a:r>
            <a:r>
              <a:rPr>
                <a:solidFill>
                  <a:srgbClr val="1E293B"/>
                </a:solidFill>
              </a:rPr>
              <a:t>Monitor and control sensitive data moving through organizational networks.</a:t>
            </a:r>
          </a:p>
          <a:p>
            <a:pPr>
              <a:lnSpc>
                <a:spcPct val="120000"/>
              </a:lnSpc>
              <a:spcAft>
                <a:spcPts val="1000"/>
              </a:spcAft>
              <a:defRPr sz="1800">
                <a:latin typeface="Times New Roman"/>
              </a:defRPr>
            </a:pPr>
            <a:r>
              <a:t>• </a:t>
            </a:r>
            <a:r>
              <a:rPr b="1">
                <a:solidFill>
                  <a:srgbClr val="000000"/>
                </a:solidFill>
              </a:rPr>
              <a:t>Network Proxies: </a:t>
            </a:r>
            <a:r>
              <a:rPr>
                <a:solidFill>
                  <a:srgbClr val="1E293B"/>
                </a:solidFill>
              </a:rPr>
              <a:t>Inspect network traffic and apply security policies before data reaches external services.</a:t>
            </a:r>
          </a:p>
          <a:p>
            <a:pPr>
              <a:lnSpc>
                <a:spcPct val="120000"/>
              </a:lnSpc>
              <a:spcAft>
                <a:spcPts val="1000"/>
              </a:spcAft>
              <a:defRPr sz="1800">
                <a:latin typeface="Times New Roman"/>
              </a:defRPr>
            </a:pPr>
            <a:r>
              <a:t>• </a:t>
            </a:r>
            <a:r>
              <a:rPr b="1">
                <a:solidFill>
                  <a:srgbClr val="000000"/>
                </a:solidFill>
              </a:rPr>
              <a:t>Endpoint Security: </a:t>
            </a:r>
            <a:r>
              <a:rPr>
                <a:solidFill>
                  <a:srgbClr val="1E293B"/>
                </a:solidFill>
              </a:rPr>
              <a:t>Monitors user devices and applications to identify potentially sensitive activities.</a:t>
            </a:r>
          </a:p>
          <a:p>
            <a:pPr>
              <a:lnSpc>
                <a:spcPct val="120000"/>
              </a:lnSpc>
              <a:spcAft>
                <a:spcPts val="1000"/>
              </a:spcAft>
              <a:defRPr sz="1800">
                <a:latin typeface="Times New Roman"/>
              </a:defRPr>
            </a:pPr>
            <a:r>
              <a:t>• </a:t>
            </a:r>
            <a:r>
              <a:rPr b="1">
                <a:solidFill>
                  <a:srgbClr val="000000"/>
                </a:solidFill>
              </a:rPr>
              <a:t>Organizational Policies: </a:t>
            </a:r>
            <a:r>
              <a:rPr>
                <a:solidFill>
                  <a:srgbClr val="1E293B"/>
                </a:solidFill>
              </a:rPr>
              <a:t>Depend on user awareness and rules to prevent employees from sharing confidential information.</a:t>
            </a:r>
          </a:p>
          <a:p>
            <a:pPr>
              <a:lnSpc>
                <a:spcPct val="120000"/>
              </a:lnSpc>
              <a:spcAft>
                <a:spcPts val="1000"/>
              </a:spcAft>
              <a:defRPr sz="1800">
                <a:latin typeface="Times New Roman"/>
              </a:defRPr>
            </a:pPr>
            <a:r>
              <a:t>• </a:t>
            </a:r>
            <a:r>
              <a:rPr b="1">
                <a:solidFill>
                  <a:srgbClr val="000000"/>
                </a:solidFill>
              </a:rPr>
              <a:t>AI Usage Controls: </a:t>
            </a:r>
            <a:r>
              <a:rPr>
                <a:solidFill>
                  <a:srgbClr val="1E293B"/>
                </a:solidFill>
              </a:rPr>
              <a:t>Organizations can restrict or monitor access to external AI platforms.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Existing Solutions &amp; Limitations</a:t>
            </a:r>
          </a:p>
        </p:txBody>
      </p:sp>
      <p:sp>
        <p:nvSpPr>
          <p:cNvPr id="5" name="TextBox 4"/>
          <p:cNvSpPr txBox="1"/>
          <p:nvPr/>
        </p:nvSpPr>
        <p:spPr>
          <a:xfrm>
            <a:off x="914400" y="1371600"/>
            <a:ext cx="10362895" cy="5029200"/>
          </a:xfrm>
          <a:prstGeom prst="rect">
            <a:avLst/>
          </a:prstGeom>
          <a:noFill/>
        </p:spPr>
        <p:txBody>
          <a:bodyPr wrap="square">
            <a:spAutoFit/>
          </a:bodyPr>
          <a:lstStyle/>
          <a:p>
            <a:pPr>
              <a:spcAft>
                <a:spcPts val="1000"/>
              </a:spcAft>
              <a:defRPr sz="2000" b="1">
                <a:solidFill>
                  <a:srgbClr val="000000"/>
                </a:solidFill>
                <a:latin typeface="Times New Roman"/>
              </a:defRPr>
            </a:pPr>
            <a:r>
              <a:t>Limitations</a:t>
            </a:r>
          </a:p>
          <a:p>
            <a:pPr>
              <a:lnSpc>
                <a:spcPct val="120000"/>
              </a:lnSpc>
              <a:spcAft>
                <a:spcPts val="1200"/>
              </a:spcAft>
              <a:defRPr sz="1800">
                <a:latin typeface="Times New Roman"/>
              </a:defRPr>
            </a:pPr>
            <a:r>
              <a:rPr>
                <a:solidFill>
                  <a:srgbClr val="1E293B"/>
                </a:solidFill>
              </a:rPr>
              <a:t>• These solutions may require additional infrastructure and configuration.</a:t>
            </a:r>
          </a:p>
          <a:p>
            <a:pPr>
              <a:lnSpc>
                <a:spcPct val="120000"/>
              </a:lnSpc>
              <a:spcAft>
                <a:spcPts val="1200"/>
              </a:spcAft>
              <a:defRPr sz="1800">
                <a:latin typeface="Times New Roman"/>
              </a:defRPr>
            </a:pPr>
            <a:r>
              <a:rPr>
                <a:solidFill>
                  <a:srgbClr val="1E293B"/>
                </a:solidFill>
              </a:rPr>
              <a:t>• Manual protection depends heavily on user awareness and careful behavior.</a:t>
            </a:r>
          </a:p>
          <a:p>
            <a:pPr>
              <a:lnSpc>
                <a:spcPct val="120000"/>
              </a:lnSpc>
              <a:spcAft>
                <a:spcPts val="1200"/>
              </a:spcAft>
              <a:defRPr sz="1800">
                <a:latin typeface="Times New Roman"/>
              </a:defRPr>
            </a:pPr>
            <a:r>
              <a:rPr>
                <a:solidFill>
                  <a:srgbClr val="1E293B"/>
                </a:solidFill>
              </a:rPr>
              <a:t>• Network-level monitoring may not provide direct prompt-level feedback.</a:t>
            </a:r>
          </a:p>
          <a:p>
            <a:pPr>
              <a:lnSpc>
                <a:spcPct val="120000"/>
              </a:lnSpc>
              <a:spcAft>
                <a:spcPts val="1200"/>
              </a:spcAft>
              <a:defRPr sz="1800">
                <a:latin typeface="Times New Roman"/>
              </a:defRPr>
            </a:pPr>
            <a:r>
              <a:rPr>
                <a:solidFill>
                  <a:srgbClr val="1E293B"/>
                </a:solidFill>
              </a:rPr>
              <a:t>• Users may not know which part of a prompt contains sensitive information.</a:t>
            </a:r>
          </a:p>
          <a:p>
            <a:pPr>
              <a:lnSpc>
                <a:spcPct val="120000"/>
              </a:lnSpc>
              <a:spcAft>
                <a:spcPts val="1200"/>
              </a:spcAft>
              <a:defRPr sz="1800">
                <a:latin typeface="Times New Roman"/>
              </a:defRPr>
            </a:pPr>
            <a:r>
              <a:rPr>
                <a:solidFill>
                  <a:srgbClr val="1E293B"/>
                </a:solidFill>
              </a:rPr>
              <a:t>• Existing approaches may not provide one-click automatic redaction before submission.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Proposed Solution</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1000"/>
              </a:spcAft>
              <a:defRPr sz="1800">
                <a:latin typeface="Times New Roman"/>
              </a:defRPr>
            </a:pPr>
            <a:r>
              <a:rPr>
                <a:solidFill>
                  <a:srgbClr val="1E293B"/>
                </a:solidFill>
              </a:rPr>
              <a:t>• SENTINEL is proposed as a client-side Data Loss Prevention browser extension for AI chatbots.</a:t>
            </a:r>
          </a:p>
          <a:p>
            <a:pPr>
              <a:lnSpc>
                <a:spcPct val="120000"/>
              </a:lnSpc>
              <a:spcAft>
                <a:spcPts val="1000"/>
              </a:spcAft>
              <a:defRPr sz="1800">
                <a:latin typeface="Times New Roman"/>
              </a:defRPr>
            </a:pPr>
            <a:r>
              <a:rPr>
                <a:solidFill>
                  <a:srgbClr val="1E293B"/>
                </a:solidFill>
              </a:rPr>
              <a:t>• It monitors user prompts and detects sensitive information before the request is transmitted.</a:t>
            </a:r>
          </a:p>
          <a:p>
            <a:pPr>
              <a:lnSpc>
                <a:spcPct val="120000"/>
              </a:lnSpc>
              <a:spcAft>
                <a:spcPts val="1000"/>
              </a:spcAft>
              <a:defRPr sz="1800">
                <a:latin typeface="Times New Roman"/>
              </a:defRPr>
            </a:pPr>
            <a:r>
              <a:rPr>
                <a:solidFill>
                  <a:srgbClr val="1E293B"/>
                </a:solidFill>
              </a:rPr>
              <a:t>• The detection engine uses 150+ signatures, Shannon Entropy, Luhn validation and PII detection.</a:t>
            </a:r>
          </a:p>
          <a:p>
            <a:pPr>
              <a:lnSpc>
                <a:spcPct val="120000"/>
              </a:lnSpc>
              <a:spcAft>
                <a:spcPts val="1000"/>
              </a:spcAft>
              <a:defRPr sz="1800">
                <a:latin typeface="Times New Roman"/>
              </a:defRPr>
            </a:pPr>
            <a:r>
              <a:rPr>
                <a:solidFill>
                  <a:srgbClr val="1E293B"/>
                </a:solidFill>
              </a:rPr>
              <a:t>• Detected information is classified according to its type, severity and associated risk score.</a:t>
            </a:r>
          </a:p>
          <a:p>
            <a:pPr>
              <a:lnSpc>
                <a:spcPct val="120000"/>
              </a:lnSpc>
              <a:spcAft>
                <a:spcPts val="1000"/>
              </a:spcAft>
              <a:defRPr sz="1800">
                <a:latin typeface="Times New Roman"/>
              </a:defRPr>
            </a:pPr>
            <a:r>
              <a:rPr>
                <a:solidFill>
                  <a:srgbClr val="1E293B"/>
                </a:solidFill>
              </a:rPr>
              <a:t>• High-risk prompts can be blocked, while sensitive values can be removed using Auto-Redaction.</a:t>
            </a:r>
          </a:p>
          <a:p>
            <a:pPr>
              <a:lnSpc>
                <a:spcPct val="120000"/>
              </a:lnSpc>
              <a:spcAft>
                <a:spcPts val="1000"/>
              </a:spcAft>
              <a:defRPr sz="1800">
                <a:latin typeface="Times New Roman"/>
              </a:defRPr>
            </a:pPr>
            <a:r>
              <a:rPr>
                <a:solidFill>
                  <a:srgbClr val="1E293B"/>
                </a:solidFill>
              </a:rPr>
              <a:t>• The system processes prompts locally and stores only masked audit information in browser storage.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Technology Stack</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1000"/>
              </a:spcAft>
              <a:defRPr sz="1800">
                <a:latin typeface="Times New Roman"/>
              </a:defRPr>
            </a:pPr>
            <a:r>
              <a:rPr>
                <a:solidFill>
                  <a:srgbClr val="1E293B"/>
                </a:solidFill>
              </a:rPr>
              <a:t>• HTML5, CSS3 and JavaScript ES6+ are used to develop the browser extension.</a:t>
            </a:r>
          </a:p>
          <a:p>
            <a:pPr>
              <a:lnSpc>
                <a:spcPct val="120000"/>
              </a:lnSpc>
              <a:spcAft>
                <a:spcPts val="1000"/>
              </a:spcAft>
              <a:defRPr sz="1800">
                <a:latin typeface="Times New Roman"/>
              </a:defRPr>
            </a:pPr>
            <a:r>
              <a:rPr>
                <a:solidFill>
                  <a:srgbClr val="1E293B"/>
                </a:solidFill>
              </a:rPr>
              <a:t>• Chrome Manifest V3 provides the extension architecture and security model.</a:t>
            </a:r>
          </a:p>
          <a:p>
            <a:pPr>
              <a:lnSpc>
                <a:spcPct val="120000"/>
              </a:lnSpc>
              <a:spcAft>
                <a:spcPts val="1000"/>
              </a:spcAft>
              <a:defRPr sz="1800">
                <a:latin typeface="Times New Roman"/>
              </a:defRPr>
            </a:pPr>
            <a:r>
              <a:rPr>
                <a:solidFill>
                  <a:srgbClr val="1E293B"/>
                </a:solidFill>
              </a:rPr>
              <a:t>• Service Worker handles background processing and extension events.</a:t>
            </a:r>
          </a:p>
          <a:p>
            <a:pPr>
              <a:lnSpc>
                <a:spcPct val="120000"/>
              </a:lnSpc>
              <a:spcAft>
                <a:spcPts val="1000"/>
              </a:spcAft>
              <a:defRPr sz="1800">
                <a:latin typeface="Times New Roman"/>
              </a:defRPr>
            </a:pPr>
            <a:r>
              <a:rPr>
                <a:solidFill>
                  <a:srgbClr val="1E293B"/>
                </a:solidFill>
              </a:rPr>
              <a:t>• chrome.storage.local stores configuration and masked audit information locally.</a:t>
            </a:r>
          </a:p>
          <a:p>
            <a:pPr>
              <a:lnSpc>
                <a:spcPct val="120000"/>
              </a:lnSpc>
              <a:spcAft>
                <a:spcPts val="1000"/>
              </a:spcAft>
              <a:defRPr sz="1800">
                <a:latin typeface="Times New Roman"/>
              </a:defRPr>
            </a:pPr>
            <a:r>
              <a:rPr>
                <a:solidFill>
                  <a:srgbClr val="1E293B"/>
                </a:solidFill>
              </a:rPr>
              <a:t>• SHA-256 and Luhn Algorithm are used for audit security and payment-card validation.</a:t>
            </a:r>
          </a:p>
          <a:p>
            <a:pPr>
              <a:lnSpc>
                <a:spcPct val="120000"/>
              </a:lnSpc>
              <a:spcAft>
                <a:spcPts val="1000"/>
              </a:spcAft>
              <a:defRPr sz="1800">
                <a:latin typeface="Times New Roman"/>
              </a:defRPr>
            </a:pPr>
            <a:r>
              <a:rPr>
                <a:solidFill>
                  <a:srgbClr val="1E293B"/>
                </a:solidFill>
              </a:rPr>
              <a:t>• Node.js is used for testing and evaluating the detection system.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_img_1.jpe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Working Methodology</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1100"/>
              </a:spcAft>
              <a:defRPr sz="1800">
                <a:latin typeface="Times New Roman"/>
              </a:defRPr>
            </a:pPr>
            <a:r>
              <a:rPr>
                <a:solidFill>
                  <a:srgbClr val="1E293B"/>
                </a:solidFill>
              </a:rPr>
              <a:t>• The user enters or pastes a prompt into a supported AI chatbot.</a:t>
            </a:r>
          </a:p>
          <a:p>
            <a:pPr>
              <a:lnSpc>
                <a:spcPct val="120000"/>
              </a:lnSpc>
              <a:spcAft>
                <a:spcPts val="1100"/>
              </a:spcAft>
              <a:defRPr sz="1800">
                <a:latin typeface="Times New Roman"/>
              </a:defRPr>
            </a:pPr>
            <a:r>
              <a:rPr>
                <a:solidFill>
                  <a:srgbClr val="1E293B"/>
                </a:solidFill>
              </a:rPr>
              <a:t>• SENTINEL monitors the input and intercepts the request before transmission.</a:t>
            </a:r>
          </a:p>
          <a:p>
            <a:pPr>
              <a:lnSpc>
                <a:spcPct val="120000"/>
              </a:lnSpc>
              <a:spcAft>
                <a:spcPts val="1100"/>
              </a:spcAft>
              <a:defRPr sz="1800">
                <a:latin typeface="Times New Roman"/>
              </a:defRPr>
            </a:pPr>
            <a:r>
              <a:rPr>
                <a:solidFill>
                  <a:srgbClr val="1E293B"/>
                </a:solidFill>
              </a:rPr>
              <a:t>• The prompt is normalized and analyzed using multiple detection techniques.</a:t>
            </a:r>
          </a:p>
          <a:p>
            <a:pPr>
              <a:lnSpc>
                <a:spcPct val="120000"/>
              </a:lnSpc>
              <a:spcAft>
                <a:spcPts val="1100"/>
              </a:spcAft>
              <a:defRPr sz="1800">
                <a:latin typeface="Times New Roman"/>
              </a:defRPr>
            </a:pPr>
            <a:r>
              <a:rPr>
                <a:solidFill>
                  <a:srgbClr val="1E293B"/>
                </a:solidFill>
              </a:rPr>
              <a:t>• Detected information is classified based on its type, severity and risk score.</a:t>
            </a:r>
          </a:p>
          <a:p>
            <a:pPr>
              <a:lnSpc>
                <a:spcPct val="120000"/>
              </a:lnSpc>
              <a:spcAft>
                <a:spcPts val="1100"/>
              </a:spcAft>
              <a:defRPr sz="1800">
                <a:latin typeface="Times New Roman"/>
              </a:defRPr>
            </a:pPr>
            <a:r>
              <a:rPr>
                <a:solidFill>
                  <a:srgbClr val="1E293B"/>
                </a:solidFill>
              </a:rPr>
              <a:t>• The system decides whether to Allow, Block or Redact the prompt.</a:t>
            </a:r>
          </a:p>
          <a:p>
            <a:pPr>
              <a:lnSpc>
                <a:spcPct val="120000"/>
              </a:lnSpc>
              <a:spcAft>
                <a:spcPts val="1100"/>
              </a:spcAft>
              <a:defRPr sz="1800">
                <a:latin typeface="Times New Roman"/>
              </a:defRPr>
            </a:pPr>
            <a:r>
              <a:rPr>
                <a:solidFill>
                  <a:srgbClr val="1E293B"/>
                </a:solidFill>
              </a:rPr>
              <a:t>• A masked security event is stored locally for auditing.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Problem Impact (Why it Matters)</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1000"/>
              </a:spcAft>
              <a:defRPr sz="1800">
                <a:latin typeface="Times New Roman"/>
              </a:defRPr>
            </a:pPr>
            <a:r>
              <a:t>• </a:t>
            </a:r>
            <a:r>
              <a:rPr b="1">
                <a:solidFill>
                  <a:srgbClr val="000000"/>
                </a:solidFill>
              </a:rPr>
              <a:t>Data Leakage → </a:t>
            </a:r>
            <a:r>
              <a:rPr>
                <a:solidFill>
                  <a:srgbClr val="1E293B"/>
                </a:solidFill>
              </a:rPr>
              <a:t>Sensitive information may be exposed to external AI services</a:t>
            </a:r>
          </a:p>
          <a:p>
            <a:pPr>
              <a:lnSpc>
                <a:spcPct val="120000"/>
              </a:lnSpc>
              <a:spcAft>
                <a:spcPts val="1000"/>
              </a:spcAft>
              <a:defRPr sz="1800">
                <a:latin typeface="Times New Roman"/>
              </a:defRPr>
            </a:pPr>
            <a:r>
              <a:t>• </a:t>
            </a:r>
            <a:r>
              <a:rPr b="1">
                <a:solidFill>
                  <a:srgbClr val="000000"/>
                </a:solidFill>
              </a:rPr>
              <a:t>Credential Exposure → </a:t>
            </a:r>
            <a:r>
              <a:rPr>
                <a:solidFill>
                  <a:srgbClr val="1E293B"/>
                </a:solidFill>
              </a:rPr>
              <a:t>API keys and passwords may be misused</a:t>
            </a:r>
          </a:p>
          <a:p>
            <a:pPr>
              <a:lnSpc>
                <a:spcPct val="120000"/>
              </a:lnSpc>
              <a:spcAft>
                <a:spcPts val="1000"/>
              </a:spcAft>
              <a:defRPr sz="1800">
                <a:latin typeface="Times New Roman"/>
              </a:defRPr>
            </a:pPr>
            <a:r>
              <a:t>• </a:t>
            </a:r>
            <a:r>
              <a:rPr b="1">
                <a:solidFill>
                  <a:srgbClr val="000000"/>
                </a:solidFill>
              </a:rPr>
              <a:t>Privacy Risk → </a:t>
            </a:r>
            <a:r>
              <a:rPr>
                <a:solidFill>
                  <a:srgbClr val="1E293B"/>
                </a:solidFill>
              </a:rPr>
              <a:t>Customer and personal information can be accidentally shared</a:t>
            </a:r>
          </a:p>
          <a:p>
            <a:pPr>
              <a:lnSpc>
                <a:spcPct val="120000"/>
              </a:lnSpc>
              <a:spcAft>
                <a:spcPts val="1000"/>
              </a:spcAft>
              <a:defRPr sz="1800">
                <a:latin typeface="Times New Roman"/>
              </a:defRPr>
            </a:pPr>
            <a:r>
              <a:t>• </a:t>
            </a:r>
            <a:r>
              <a:rPr b="1">
                <a:solidFill>
                  <a:srgbClr val="000000"/>
                </a:solidFill>
              </a:rPr>
              <a:t>Intellectual Property Loss → </a:t>
            </a:r>
            <a:r>
              <a:rPr>
                <a:solidFill>
                  <a:srgbClr val="1E293B"/>
                </a:solidFill>
              </a:rPr>
              <a:t>Source code and confidential business data may be exposed</a:t>
            </a:r>
          </a:p>
          <a:p>
            <a:pPr>
              <a:lnSpc>
                <a:spcPct val="120000"/>
              </a:lnSpc>
              <a:spcAft>
                <a:spcPts val="1000"/>
              </a:spcAft>
              <a:defRPr sz="1800">
                <a:latin typeface="Times New Roman"/>
              </a:defRPr>
            </a:pPr>
            <a:r>
              <a:t>• </a:t>
            </a:r>
            <a:r>
              <a:rPr b="1">
                <a:solidFill>
                  <a:srgbClr val="000000"/>
                </a:solidFill>
              </a:rPr>
              <a:t>Compliance Issues → </a:t>
            </a:r>
            <a:r>
              <a:rPr>
                <a:solidFill>
                  <a:srgbClr val="1E293B"/>
                </a:solidFill>
              </a:rPr>
              <a:t>Data exposure can lead to privacy and regulatory problems</a:t>
            </a:r>
          </a:p>
          <a:p>
            <a:pPr>
              <a:lnSpc>
                <a:spcPct val="120000"/>
              </a:lnSpc>
              <a:spcAft>
                <a:spcPts val="1000"/>
              </a:spcAft>
              <a:defRPr sz="1800">
                <a:latin typeface="Times New Roman"/>
              </a:defRPr>
            </a:pPr>
            <a:r>
              <a:t>• </a:t>
            </a:r>
            <a:r>
              <a:rPr b="1">
                <a:solidFill>
                  <a:srgbClr val="000000"/>
                </a:solidFill>
              </a:rPr>
              <a:t>No Immediate Protection → </a:t>
            </a:r>
            <a:r>
              <a:rPr>
                <a:solidFill>
                  <a:srgbClr val="1E293B"/>
                </a:solidFill>
              </a:rPr>
              <a:t>Users may realize the risk only after submitting the prompt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Use Case Scenario</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900"/>
              </a:spcAft>
              <a:defRPr sz="1700">
                <a:latin typeface="Times New Roman"/>
              </a:defRPr>
            </a:pPr>
            <a:r>
              <a:t>• </a:t>
            </a:r>
            <a:r>
              <a:rPr b="1">
                <a:solidFill>
                  <a:srgbClr val="000000"/>
                </a:solidFill>
              </a:rPr>
              <a:t>Prompt Entry → </a:t>
            </a:r>
            <a:r>
              <a:rPr>
                <a:solidFill>
                  <a:srgbClr val="1E293B"/>
                </a:solidFill>
              </a:rPr>
              <a:t>Developer pastes authentication code into an AI chatbot for debugging.</a:t>
            </a:r>
          </a:p>
          <a:p>
            <a:pPr>
              <a:lnSpc>
                <a:spcPct val="120000"/>
              </a:lnSpc>
              <a:spcAft>
                <a:spcPts val="900"/>
              </a:spcAft>
              <a:defRPr sz="1700">
                <a:latin typeface="Times New Roman"/>
              </a:defRPr>
            </a:pPr>
            <a:r>
              <a:t>• </a:t>
            </a:r>
            <a:r>
              <a:rPr b="1">
                <a:solidFill>
                  <a:srgbClr val="000000"/>
                </a:solidFill>
              </a:rPr>
              <a:t>Sensitive Data → </a:t>
            </a:r>
            <a:r>
              <a:rPr>
                <a:solidFill>
                  <a:srgbClr val="1E293B"/>
                </a:solidFill>
              </a:rPr>
              <a:t>The code accidentally contains an API key and database credentials.</a:t>
            </a:r>
          </a:p>
          <a:p>
            <a:pPr>
              <a:lnSpc>
                <a:spcPct val="120000"/>
              </a:lnSpc>
              <a:spcAft>
                <a:spcPts val="900"/>
              </a:spcAft>
              <a:defRPr sz="1700">
                <a:latin typeface="Times New Roman"/>
              </a:defRPr>
            </a:pPr>
            <a:r>
              <a:t>• </a:t>
            </a:r>
            <a:r>
              <a:rPr b="1">
                <a:solidFill>
                  <a:srgbClr val="000000"/>
                </a:solidFill>
              </a:rPr>
              <a:t>Detection → </a:t>
            </a:r>
            <a:r>
              <a:rPr>
                <a:solidFill>
                  <a:srgbClr val="1E293B"/>
                </a:solidFill>
              </a:rPr>
              <a:t>SENTINEL scans the prompt and identifies the sensitive information.</a:t>
            </a:r>
          </a:p>
          <a:p>
            <a:pPr>
              <a:lnSpc>
                <a:spcPct val="120000"/>
              </a:lnSpc>
              <a:spcAft>
                <a:spcPts val="900"/>
              </a:spcAft>
              <a:defRPr sz="1700">
                <a:latin typeface="Times New Roman"/>
              </a:defRPr>
            </a:pPr>
            <a:r>
              <a:t>• </a:t>
            </a:r>
            <a:r>
              <a:rPr b="1">
                <a:solidFill>
                  <a:srgbClr val="000000"/>
                </a:solidFill>
              </a:rPr>
              <a:t>Warning &amp; Block → </a:t>
            </a:r>
            <a:r>
              <a:rPr>
                <a:solidFill>
                  <a:srgbClr val="1E293B"/>
                </a:solidFill>
              </a:rPr>
              <a:t>A risk warning is displayed and the request is blocked if the risk is critical.</a:t>
            </a:r>
          </a:p>
          <a:p>
            <a:pPr>
              <a:lnSpc>
                <a:spcPct val="120000"/>
              </a:lnSpc>
              <a:spcAft>
                <a:spcPts val="900"/>
              </a:spcAft>
              <a:defRPr sz="1700">
                <a:latin typeface="Times New Roman"/>
              </a:defRPr>
            </a:pPr>
            <a:r>
              <a:t>• </a:t>
            </a:r>
            <a:r>
              <a:rPr b="1">
                <a:solidFill>
                  <a:srgbClr val="000000"/>
                </a:solidFill>
              </a:rPr>
              <a:t>Auto-Redaction → </a:t>
            </a:r>
            <a:r>
              <a:rPr>
                <a:solidFill>
                  <a:srgbClr val="1E293B"/>
                </a:solidFill>
              </a:rPr>
              <a:t>Sensitive values are replaced with safe placeholders such as [API_KEY].</a:t>
            </a:r>
          </a:p>
          <a:p>
            <a:pPr>
              <a:lnSpc>
                <a:spcPct val="120000"/>
              </a:lnSpc>
              <a:spcAft>
                <a:spcPts val="900"/>
              </a:spcAft>
              <a:defRPr sz="1700">
                <a:latin typeface="Times New Roman"/>
              </a:defRPr>
            </a:pPr>
            <a:r>
              <a:t>• </a:t>
            </a:r>
            <a:r>
              <a:rPr b="1">
                <a:solidFill>
                  <a:srgbClr val="000000"/>
                </a:solidFill>
              </a:rPr>
              <a:t>Safe Submission → </a:t>
            </a:r>
            <a:r>
              <a:rPr>
                <a:solidFill>
                  <a:srgbClr val="1E293B"/>
                </a:solidFill>
              </a:rPr>
              <a:t>The sanitized prompt is submitted to the AI chatbot without exposing the original credentials.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User Flow</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1000"/>
              </a:spcAft>
              <a:defRPr sz="1800">
                <a:latin typeface="Times New Roman"/>
              </a:defRPr>
            </a:pPr>
            <a:r>
              <a:t>• </a:t>
            </a:r>
            <a:r>
              <a:rPr b="1">
                <a:solidFill>
                  <a:srgbClr val="000000"/>
                </a:solidFill>
              </a:rPr>
              <a:t>Open AI Chatbot → </a:t>
            </a:r>
            <a:r>
              <a:rPr>
                <a:solidFill>
                  <a:srgbClr val="1E293B"/>
                </a:solidFill>
              </a:rPr>
              <a:t>User opens a supported AI platform in the browser.</a:t>
            </a:r>
          </a:p>
          <a:p>
            <a:pPr>
              <a:lnSpc>
                <a:spcPct val="120000"/>
              </a:lnSpc>
              <a:spcAft>
                <a:spcPts val="1000"/>
              </a:spcAft>
              <a:defRPr sz="1800">
                <a:latin typeface="Times New Roman"/>
              </a:defRPr>
            </a:pPr>
            <a:r>
              <a:t>• </a:t>
            </a:r>
            <a:r>
              <a:rPr b="1">
                <a:solidFill>
                  <a:srgbClr val="000000"/>
                </a:solidFill>
              </a:rPr>
              <a:t>Enter Prompt → </a:t>
            </a:r>
            <a:r>
              <a:rPr>
                <a:solidFill>
                  <a:srgbClr val="1E293B"/>
                </a:solidFill>
              </a:rPr>
              <a:t>User types or pastes a prompt into the chatbot.</a:t>
            </a:r>
          </a:p>
          <a:p>
            <a:pPr>
              <a:lnSpc>
                <a:spcPct val="120000"/>
              </a:lnSpc>
              <a:spcAft>
                <a:spcPts val="1000"/>
              </a:spcAft>
              <a:defRPr sz="1800">
                <a:latin typeface="Times New Roman"/>
              </a:defRPr>
            </a:pPr>
            <a:r>
              <a:t>• </a:t>
            </a:r>
            <a:r>
              <a:rPr b="1">
                <a:solidFill>
                  <a:srgbClr val="000000"/>
                </a:solidFill>
              </a:rPr>
              <a:t>Monitor &amp; Scan → </a:t>
            </a:r>
            <a:r>
              <a:rPr>
                <a:solidFill>
                  <a:srgbClr val="1E293B"/>
                </a:solidFill>
              </a:rPr>
              <a:t>SENTINEL monitors the input and scans for sensitive information.</a:t>
            </a:r>
          </a:p>
          <a:p>
            <a:pPr>
              <a:lnSpc>
                <a:spcPct val="120000"/>
              </a:lnSpc>
              <a:spcAft>
                <a:spcPts val="1000"/>
              </a:spcAft>
              <a:defRPr sz="1800">
                <a:latin typeface="Times New Roman"/>
              </a:defRPr>
            </a:pPr>
            <a:r>
              <a:t>• </a:t>
            </a:r>
            <a:r>
              <a:rPr b="1">
                <a:solidFill>
                  <a:srgbClr val="000000"/>
                </a:solidFill>
              </a:rPr>
              <a:t>Risk Analysis → </a:t>
            </a:r>
            <a:r>
              <a:rPr>
                <a:solidFill>
                  <a:srgbClr val="1E293B"/>
                </a:solidFill>
              </a:rPr>
              <a:t>Detected data is classified and a risk score is calculated.</a:t>
            </a:r>
          </a:p>
          <a:p>
            <a:pPr>
              <a:lnSpc>
                <a:spcPct val="120000"/>
              </a:lnSpc>
              <a:spcAft>
                <a:spcPts val="1000"/>
              </a:spcAft>
              <a:defRPr sz="1800">
                <a:latin typeface="Times New Roman"/>
              </a:defRPr>
            </a:pPr>
            <a:r>
              <a:t>• </a:t>
            </a:r>
            <a:r>
              <a:rPr b="1">
                <a:solidFill>
                  <a:srgbClr val="000000"/>
                </a:solidFill>
              </a:rPr>
              <a:t>Decision → </a:t>
            </a:r>
            <a:r>
              <a:rPr>
                <a:solidFill>
                  <a:srgbClr val="1E293B"/>
                </a:solidFill>
              </a:rPr>
              <a:t>Prompt is Allowed, Blocked or Redacted based on the risk level.</a:t>
            </a:r>
          </a:p>
          <a:p>
            <a:pPr>
              <a:lnSpc>
                <a:spcPct val="120000"/>
              </a:lnSpc>
              <a:spcAft>
                <a:spcPts val="1000"/>
              </a:spcAft>
              <a:defRPr sz="1800">
                <a:latin typeface="Times New Roman"/>
              </a:defRPr>
            </a:pPr>
            <a:r>
              <a:t>• </a:t>
            </a:r>
            <a:r>
              <a:rPr b="1">
                <a:solidFill>
                  <a:srgbClr val="000000"/>
                </a:solidFill>
              </a:rPr>
              <a:t>Continue Safely → </a:t>
            </a:r>
            <a:r>
              <a:rPr>
                <a:solidFill>
                  <a:srgbClr val="1E293B"/>
                </a:solidFill>
              </a:rPr>
              <a:t>User submits the sanitized prompt, while a masked audit record is stored locally.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Project Demo: In-Browser Real-Time Interception</a:t>
            </a:r>
          </a:p>
        </p:txBody>
      </p:sp>
      <p:pic>
        <p:nvPicPr>
          <p:cNvPr id="5" name="Picture 4" descr="fig15_2_chatgpt_modal.png"/>
          <p:cNvPicPr>
            <a:picLocks noChangeAspect="1"/>
          </p:cNvPicPr>
          <p:nvPr/>
        </p:nvPicPr>
        <p:blipFill>
          <a:blip r:embed="rId4"/>
          <a:stretch>
            <a:fillRect/>
          </a:stretch>
        </p:blipFill>
        <p:spPr>
          <a:xfrm>
            <a:off x="731520" y="1371600"/>
            <a:ext cx="6583680" cy="4937760"/>
          </a:xfrm>
          <a:prstGeom prst="rect">
            <a:avLst/>
          </a:prstGeom>
        </p:spPr>
      </p:pic>
      <p:sp>
        <p:nvSpPr>
          <p:cNvPr id="6" name="TextBox 5"/>
          <p:cNvSpPr txBox="1"/>
          <p:nvPr/>
        </p:nvSpPr>
        <p:spPr>
          <a:xfrm>
            <a:off x="7498079" y="1463040"/>
            <a:ext cx="4297680" cy="4754880"/>
          </a:xfrm>
          <a:prstGeom prst="rect">
            <a:avLst/>
          </a:prstGeom>
          <a:noFill/>
        </p:spPr>
        <p:txBody>
          <a:bodyPr wrap="square">
            <a:spAutoFit/>
          </a:bodyPr>
          <a:lstStyle/>
          <a:p>
            <a:pPr>
              <a:spcAft>
                <a:spcPts val="1200"/>
              </a:spcAft>
              <a:defRPr sz="2000" b="1">
                <a:latin typeface="Times New Roman"/>
              </a:defRPr>
            </a:pPr>
            <a:r>
              <a:t>Key Demonstration Features:</a:t>
            </a:r>
          </a:p>
          <a:p>
            <a:pPr>
              <a:lnSpc>
                <a:spcPct val="115000"/>
              </a:lnSpc>
              <a:spcAft>
                <a:spcPts val="800"/>
              </a:spcAft>
              <a:defRPr sz="1500">
                <a:latin typeface="Times New Roman"/>
              </a:defRPr>
            </a:pPr>
            <a:r>
              <a:t>• Pre-Transmission Interception: Automatically halts submission in ChatGPT before data leaves the browser.</a:t>
            </a:r>
          </a:p>
          <a:p>
            <a:pPr>
              <a:lnSpc>
                <a:spcPct val="115000"/>
              </a:lnSpc>
              <a:spcAft>
                <a:spcPts val="800"/>
              </a:spcAft>
              <a:defRPr sz="1500">
                <a:latin typeface="Times New Roman"/>
              </a:defRPr>
            </a:pPr>
            <a:r>
              <a:t>• Critical Risk Banner: Visually alerts the user with severity badges and detailed explanation.</a:t>
            </a:r>
          </a:p>
          <a:p>
            <a:pPr>
              <a:lnSpc>
                <a:spcPct val="115000"/>
              </a:lnSpc>
              <a:spcAft>
                <a:spcPts val="800"/>
              </a:spcAft>
              <a:defRPr sz="1500">
                <a:latin typeface="Times New Roman"/>
              </a:defRPr>
            </a:pPr>
            <a:r>
              <a:t>• Matched Secret Breakdown: Identifies Database URI and AWS Access Key with Shannon entropy metrics.</a:t>
            </a:r>
          </a:p>
          <a:p>
            <a:pPr>
              <a:lnSpc>
                <a:spcPct val="115000"/>
              </a:lnSpc>
              <a:spcAft>
                <a:spcPts val="800"/>
              </a:spcAft>
              <a:defRPr sz="1500">
                <a:latin typeface="Times New Roman"/>
              </a:defRPr>
            </a:pPr>
            <a:r>
              <a:t>• One-Click Auto-Redact: User can immediately sanitize credentials and submit without manual editing.</a:t>
            </a:r>
          </a:p>
          <a:p>
            <a:pPr>
              <a:lnSpc>
                <a:spcPct val="115000"/>
              </a:lnSpc>
              <a:spcAft>
                <a:spcPts val="800"/>
              </a:spcAft>
              <a:defRPr sz="1500">
                <a:latin typeface="Times New Roman"/>
              </a:defRPr>
            </a:pPr>
            <a:r>
              <a:t>• Zero Cloud Egress: Detection executes 100% locally in under 5 milliseconds.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Project Demo: Extension Popup Dashboard</a:t>
            </a:r>
          </a:p>
        </p:txBody>
      </p:sp>
      <p:pic>
        <p:nvPicPr>
          <p:cNvPr id="5" name="Picture 4" descr="fig15_1_popup.png"/>
          <p:cNvPicPr>
            <a:picLocks noChangeAspect="1"/>
          </p:cNvPicPr>
          <p:nvPr/>
        </p:nvPicPr>
        <p:blipFill>
          <a:blip r:embed="rId4"/>
          <a:stretch>
            <a:fillRect/>
          </a:stretch>
        </p:blipFill>
        <p:spPr>
          <a:xfrm>
            <a:off x="1097280" y="1371600"/>
            <a:ext cx="3474720" cy="4937760"/>
          </a:xfrm>
          <a:prstGeom prst="rect">
            <a:avLst/>
          </a:prstGeom>
        </p:spPr>
      </p:pic>
      <p:sp>
        <p:nvSpPr>
          <p:cNvPr id="6" name="TextBox 5"/>
          <p:cNvSpPr txBox="1"/>
          <p:nvPr/>
        </p:nvSpPr>
        <p:spPr>
          <a:xfrm>
            <a:off x="4937760" y="1463040"/>
            <a:ext cx="6675120" cy="4754880"/>
          </a:xfrm>
          <a:prstGeom prst="rect">
            <a:avLst/>
          </a:prstGeom>
          <a:noFill/>
        </p:spPr>
        <p:txBody>
          <a:bodyPr wrap="square">
            <a:spAutoFit/>
          </a:bodyPr>
          <a:lstStyle/>
          <a:p>
            <a:pPr>
              <a:spcAft>
                <a:spcPts val="1200"/>
              </a:spcAft>
              <a:defRPr sz="2000" b="1">
                <a:latin typeface="Times New Roman"/>
              </a:defRPr>
            </a:pPr>
            <a:r>
              <a:t>Dashboard Controls &amp; Metrics:</a:t>
            </a:r>
          </a:p>
          <a:p>
            <a:pPr>
              <a:lnSpc>
                <a:spcPct val="120000"/>
              </a:lnSpc>
              <a:spcAft>
                <a:spcPts val="1000"/>
              </a:spcAft>
              <a:defRPr sz="1600">
                <a:latin typeface="Times New Roman"/>
              </a:defRPr>
            </a:pPr>
            <a:r>
              <a:t>• Protection Status Toggle: Master on/off switch for real-time prompt protection across all supported AI tools.</a:t>
            </a:r>
          </a:p>
          <a:p>
            <a:pPr>
              <a:lnSpc>
                <a:spcPct val="120000"/>
              </a:lnSpc>
              <a:spcAft>
                <a:spcPts val="1000"/>
              </a:spcAft>
              <a:defRPr sz="1600">
                <a:latin typeface="Times New Roman"/>
              </a:defRPr>
            </a:pPr>
            <a:r>
              <a:t>• Session Exposure Gauge: Visual score reflecting total sensitive data exposure risk in the current browsing session.</a:t>
            </a:r>
          </a:p>
          <a:p>
            <a:pPr>
              <a:lnSpc>
                <a:spcPct val="120000"/>
              </a:lnSpc>
              <a:spcAft>
                <a:spcPts val="1000"/>
              </a:spcAft>
              <a:defRPr sz="1600">
                <a:latin typeface="Times New Roman"/>
              </a:defRPr>
            </a:pPr>
            <a:r>
              <a:t>• Real-Time Telemetry Counter: Tracks total prompts scanned, leaks blocked, and active platform integrations (25+ AI interfaces).</a:t>
            </a:r>
          </a:p>
          <a:p>
            <a:pPr>
              <a:lnSpc>
                <a:spcPct val="120000"/>
              </a:lnSpc>
              <a:spcAft>
                <a:spcPts val="1000"/>
              </a:spcAft>
              <a:defRPr sz="1600">
                <a:latin typeface="Times New Roman"/>
              </a:defRPr>
            </a:pPr>
            <a:r>
              <a:t>• Recent Detections Feed: Displays immediate audit history of blocked attempts without exposing raw confidential text.</a:t>
            </a:r>
          </a:p>
          <a:p>
            <a:pPr>
              <a:lnSpc>
                <a:spcPct val="120000"/>
              </a:lnSpc>
              <a:spcAft>
                <a:spcPts val="1000"/>
              </a:spcAft>
              <a:defRPr sz="1600">
                <a:latin typeface="Times New Roman"/>
              </a:defRPr>
            </a:pPr>
            <a:r>
              <a:t>• Settings &amp; Options Access: Instant navigation to user-defined sensitivity thresholds and custom dictionary lists.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Project Demo: Auto-Redaction &amp; Audit Logging</a:t>
            </a:r>
          </a:p>
        </p:txBody>
      </p:sp>
      <p:pic>
        <p:nvPicPr>
          <p:cNvPr id="5" name="Picture 4" descr="fig15_4_redacted.png"/>
          <p:cNvPicPr>
            <a:picLocks noChangeAspect="1"/>
          </p:cNvPicPr>
          <p:nvPr/>
        </p:nvPicPr>
        <p:blipFill>
          <a:blip r:embed="rId4"/>
          <a:stretch>
            <a:fillRect/>
          </a:stretch>
        </p:blipFill>
        <p:spPr>
          <a:xfrm>
            <a:off x="731520" y="1371600"/>
            <a:ext cx="6035040" cy="2377440"/>
          </a:xfrm>
          <a:prstGeom prst="rect">
            <a:avLst/>
          </a:prstGeom>
        </p:spPr>
      </p:pic>
      <p:pic>
        <p:nvPicPr>
          <p:cNvPr id="6" name="Picture 5" descr="fig15_6_audit_log.png"/>
          <p:cNvPicPr>
            <a:picLocks noChangeAspect="1"/>
          </p:cNvPicPr>
          <p:nvPr/>
        </p:nvPicPr>
        <p:blipFill>
          <a:blip r:embed="rId5"/>
          <a:stretch>
            <a:fillRect/>
          </a:stretch>
        </p:blipFill>
        <p:spPr>
          <a:xfrm>
            <a:off x="731520" y="3931920"/>
            <a:ext cx="6035040" cy="2560320"/>
          </a:xfrm>
          <a:prstGeom prst="rect">
            <a:avLst/>
          </a:prstGeom>
        </p:spPr>
      </p:pic>
      <p:sp>
        <p:nvSpPr>
          <p:cNvPr id="7" name="TextBox 6"/>
          <p:cNvSpPr txBox="1"/>
          <p:nvPr/>
        </p:nvSpPr>
        <p:spPr>
          <a:xfrm>
            <a:off x="7040880" y="1463040"/>
            <a:ext cx="4663440" cy="4754880"/>
          </a:xfrm>
          <a:prstGeom prst="rect">
            <a:avLst/>
          </a:prstGeom>
          <a:noFill/>
        </p:spPr>
        <p:txBody>
          <a:bodyPr wrap="square">
            <a:spAutoFit/>
          </a:bodyPr>
          <a:lstStyle/>
          <a:p>
            <a:pPr>
              <a:spcAft>
                <a:spcPts val="1000"/>
              </a:spcAft>
              <a:defRPr sz="1900" b="1">
                <a:latin typeface="Times New Roman"/>
              </a:defRPr>
            </a:pPr>
            <a:r>
              <a:t>In-Place Redaction &amp; Audit Trail:</a:t>
            </a:r>
          </a:p>
          <a:p>
            <a:pPr>
              <a:lnSpc>
                <a:spcPct val="115000"/>
              </a:lnSpc>
              <a:spcAft>
                <a:spcPts val="700"/>
              </a:spcAft>
              <a:defRPr sz="1450">
                <a:latin typeface="Times New Roman"/>
              </a:defRPr>
            </a:pPr>
            <a:r>
              <a:t>• In-Place Context Preservation: Automatically replaces secrets with placeholder tags (e.g., [REDACTED_GITHUB_KEY_1]) while keeping prompt syntax intact.</a:t>
            </a:r>
          </a:p>
          <a:p>
            <a:pPr>
              <a:lnSpc>
                <a:spcPct val="115000"/>
              </a:lnSpc>
              <a:spcAft>
                <a:spcPts val="700"/>
              </a:spcAft>
              <a:defRPr sz="1450">
                <a:latin typeface="Times New Roman"/>
              </a:defRPr>
            </a:pPr>
            <a:r>
              <a:t>• Safe Transmission: Reduces risk score from 100 to 0 (CLEAN), enabling safe submission to external LLMs.</a:t>
            </a:r>
          </a:p>
          <a:p>
            <a:pPr>
              <a:lnSpc>
                <a:spcPct val="115000"/>
              </a:lnSpc>
              <a:spcAft>
                <a:spcPts val="700"/>
              </a:spcAft>
              <a:defRPr sz="1450">
                <a:latin typeface="Times New Roman"/>
              </a:defRPr>
            </a:pPr>
            <a:r>
              <a:t>• Zero-Trust Local Audit Viewer: Encrypted audit log stored solely in chrome.storage.local.</a:t>
            </a:r>
          </a:p>
          <a:p>
            <a:pPr>
              <a:lnSpc>
                <a:spcPct val="115000"/>
              </a:lnSpc>
              <a:spcAft>
                <a:spcPts val="700"/>
              </a:spcAft>
              <a:defRPr sz="1450">
                <a:latin typeface="Times New Roman"/>
              </a:defRPr>
            </a:pPr>
            <a:r>
              <a:t>• Masked Token Previews: Logs display only masked previews (e.g. sk-proj-••••3xY9, AKIA••••MPLE).</a:t>
            </a:r>
          </a:p>
          <a:p>
            <a:pPr>
              <a:lnSpc>
                <a:spcPct val="115000"/>
              </a:lnSpc>
              <a:spcAft>
                <a:spcPts val="700"/>
              </a:spcAft>
              <a:defRPr sz="1450">
                <a:latin typeface="Times New Roman"/>
              </a:defRPr>
            </a:pPr>
            <a:r>
              <a:t>• Export Capability: Allows compliance teams to export structured tamper-evident audit logs in JSON format.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AI Models Explanation</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900"/>
              </a:spcAft>
              <a:defRPr sz="1700">
                <a:latin typeface="Times New Roman"/>
              </a:defRPr>
            </a:pPr>
            <a:r>
              <a:t>• </a:t>
            </a:r>
            <a:r>
              <a:rPr b="1">
                <a:solidFill>
                  <a:srgbClr val="000000"/>
                </a:solidFill>
              </a:rPr>
              <a:t>Regex Model → </a:t>
            </a:r>
            <a:r>
              <a:rPr>
                <a:solidFill>
                  <a:srgbClr val="1E293B"/>
                </a:solidFill>
              </a:rPr>
              <a:t>Uses predefined patterns to detect known API keys, passwords, tokens and sensitive data.</a:t>
            </a:r>
          </a:p>
          <a:p>
            <a:pPr>
              <a:lnSpc>
                <a:spcPct val="120000"/>
              </a:lnSpc>
              <a:spcAft>
                <a:spcPts val="900"/>
              </a:spcAft>
              <a:defRPr sz="1700">
                <a:latin typeface="Times New Roman"/>
              </a:defRPr>
            </a:pPr>
            <a:r>
              <a:t>• </a:t>
            </a:r>
            <a:r>
              <a:rPr b="1">
                <a:solidFill>
                  <a:srgbClr val="000000"/>
                </a:solidFill>
              </a:rPr>
              <a:t>Shannon Entropy → </a:t>
            </a:r>
            <a:r>
              <a:rPr>
                <a:solidFill>
                  <a:srgbClr val="1E293B"/>
                </a:solidFill>
              </a:rPr>
              <a:t>Measures the randomness of text to identify possible unknown secrets.</a:t>
            </a:r>
          </a:p>
          <a:p>
            <a:pPr>
              <a:lnSpc>
                <a:spcPct val="120000"/>
              </a:lnSpc>
              <a:spcAft>
                <a:spcPts val="900"/>
              </a:spcAft>
              <a:defRPr sz="1700">
                <a:latin typeface="Times New Roman"/>
              </a:defRPr>
            </a:pPr>
            <a:r>
              <a:t>• </a:t>
            </a:r>
            <a:r>
              <a:rPr b="1">
                <a:solidFill>
                  <a:srgbClr val="000000"/>
                </a:solidFill>
              </a:rPr>
              <a:t>Luhn Algorithm → </a:t>
            </a:r>
            <a:r>
              <a:rPr>
                <a:solidFill>
                  <a:srgbClr val="1E293B"/>
                </a:solidFill>
              </a:rPr>
              <a:t>Validates possible payment-card numbers and reduces incorrect detections.</a:t>
            </a:r>
          </a:p>
          <a:p>
            <a:pPr>
              <a:lnSpc>
                <a:spcPct val="120000"/>
              </a:lnSpc>
              <a:spcAft>
                <a:spcPts val="900"/>
              </a:spcAft>
              <a:defRPr sz="1700">
                <a:latin typeface="Times New Roman"/>
              </a:defRPr>
            </a:pPr>
            <a:r>
              <a:t>• </a:t>
            </a:r>
            <a:r>
              <a:rPr b="1">
                <a:solidFill>
                  <a:srgbClr val="000000"/>
                </a:solidFill>
              </a:rPr>
              <a:t>PII Detection → </a:t>
            </a:r>
            <a:r>
              <a:rPr>
                <a:solidFill>
                  <a:srgbClr val="1E293B"/>
                </a:solidFill>
              </a:rPr>
              <a:t>Identifies personal information such as email addresses and phone numbers.</a:t>
            </a:r>
          </a:p>
          <a:p>
            <a:pPr>
              <a:lnSpc>
                <a:spcPct val="120000"/>
              </a:lnSpc>
              <a:spcAft>
                <a:spcPts val="900"/>
              </a:spcAft>
              <a:defRPr sz="1700">
                <a:latin typeface="Times New Roman"/>
              </a:defRPr>
            </a:pPr>
            <a:r>
              <a:t>• </a:t>
            </a:r>
            <a:r>
              <a:rPr b="1">
                <a:solidFill>
                  <a:srgbClr val="000000"/>
                </a:solidFill>
              </a:rPr>
              <a:t>TF-IDF + Logistic Regression → </a:t>
            </a:r>
            <a:r>
              <a:rPr>
                <a:solidFill>
                  <a:srgbClr val="1E293B"/>
                </a:solidFill>
              </a:rPr>
              <a:t>Experimental machine-learning model used to classify prompts based on their text features.</a:t>
            </a:r>
          </a:p>
          <a:p>
            <a:pPr>
              <a:lnSpc>
                <a:spcPct val="120000"/>
              </a:lnSpc>
              <a:spcAft>
                <a:spcPts val="900"/>
              </a:spcAft>
              <a:defRPr sz="1700">
                <a:latin typeface="Times New Roman"/>
              </a:defRPr>
            </a:pPr>
            <a:r>
              <a:t>• </a:t>
            </a:r>
            <a:r>
              <a:rPr b="1">
                <a:solidFill>
                  <a:srgbClr val="000000"/>
                </a:solidFill>
              </a:rPr>
              <a:t>Combined Detection → </a:t>
            </a:r>
            <a:r>
              <a:rPr>
                <a:solidFill>
                  <a:srgbClr val="1E293B"/>
                </a:solidFill>
              </a:rPr>
              <a:t>Multiple techniques work together to improve sensitive-data detection and risk assessment.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Innovation</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900"/>
              </a:spcAft>
              <a:defRPr sz="1700">
                <a:latin typeface="Times New Roman"/>
              </a:defRPr>
            </a:pPr>
            <a:r>
              <a:t>• </a:t>
            </a:r>
            <a:r>
              <a:rPr b="1">
                <a:solidFill>
                  <a:srgbClr val="000000"/>
                </a:solidFill>
              </a:rPr>
              <a:t>Pre-Transmission Protection → </a:t>
            </a:r>
            <a:r>
              <a:rPr>
                <a:solidFill>
                  <a:srgbClr val="1E293B"/>
                </a:solidFill>
              </a:rPr>
              <a:t>Detects sensitive information before the prompt reaches the external AI service.</a:t>
            </a:r>
          </a:p>
          <a:p>
            <a:pPr>
              <a:lnSpc>
                <a:spcPct val="120000"/>
              </a:lnSpc>
              <a:spcAft>
                <a:spcPts val="900"/>
              </a:spcAft>
              <a:defRPr sz="1700">
                <a:latin typeface="Times New Roman"/>
              </a:defRPr>
            </a:pPr>
            <a:r>
              <a:t>• </a:t>
            </a:r>
            <a:r>
              <a:rPr b="1">
                <a:solidFill>
                  <a:srgbClr val="000000"/>
                </a:solidFill>
              </a:rPr>
              <a:t>Multi-Layer Detection → </a:t>
            </a:r>
            <a:r>
              <a:rPr>
                <a:solidFill>
                  <a:srgbClr val="1E293B"/>
                </a:solidFill>
              </a:rPr>
              <a:t>Combines 150+ signatures, entropy, Luhn validation and PII detection.</a:t>
            </a:r>
          </a:p>
          <a:p>
            <a:pPr>
              <a:lnSpc>
                <a:spcPct val="120000"/>
              </a:lnSpc>
              <a:spcAft>
                <a:spcPts val="900"/>
              </a:spcAft>
              <a:defRPr sz="1700">
                <a:latin typeface="Times New Roman"/>
              </a:defRPr>
            </a:pPr>
            <a:r>
              <a:t>• </a:t>
            </a:r>
            <a:r>
              <a:rPr b="1">
                <a:solidFill>
                  <a:srgbClr val="000000"/>
                </a:solidFill>
              </a:rPr>
              <a:t>Privacy-First Processing → </a:t>
            </a:r>
            <a:r>
              <a:rPr>
                <a:solidFill>
                  <a:srgbClr val="1E293B"/>
                </a:solidFill>
              </a:rPr>
              <a:t>Performs prompt analysis locally without sending prompt data to external servers.</a:t>
            </a:r>
          </a:p>
          <a:p>
            <a:pPr>
              <a:lnSpc>
                <a:spcPct val="120000"/>
              </a:lnSpc>
              <a:spcAft>
                <a:spcPts val="900"/>
              </a:spcAft>
              <a:defRPr sz="1700">
                <a:latin typeface="Times New Roman"/>
              </a:defRPr>
            </a:pPr>
            <a:r>
              <a:t>• </a:t>
            </a:r>
            <a:r>
              <a:rPr b="1">
                <a:solidFill>
                  <a:srgbClr val="000000"/>
                </a:solidFill>
              </a:rPr>
              <a:t>Auto-Redaction → </a:t>
            </a:r>
            <a:r>
              <a:rPr>
                <a:solidFill>
                  <a:srgbClr val="1E293B"/>
                </a:solidFill>
              </a:rPr>
              <a:t>Automatically replaces detected sensitive values with safe placeholders.</a:t>
            </a:r>
          </a:p>
          <a:p>
            <a:pPr>
              <a:lnSpc>
                <a:spcPct val="120000"/>
              </a:lnSpc>
              <a:spcAft>
                <a:spcPts val="900"/>
              </a:spcAft>
              <a:defRPr sz="1700">
                <a:latin typeface="Times New Roman"/>
              </a:defRPr>
            </a:pPr>
            <a:r>
              <a:t>• </a:t>
            </a:r>
            <a:r>
              <a:rPr b="1">
                <a:solidFill>
                  <a:srgbClr val="000000"/>
                </a:solidFill>
              </a:rPr>
              <a:t>Explainable Alerts → </a:t>
            </a:r>
            <a:r>
              <a:rPr>
                <a:solidFill>
                  <a:srgbClr val="1E293B"/>
                </a:solidFill>
              </a:rPr>
              <a:t>Clearly shows users what type of sensitive information was detected and why.</a:t>
            </a:r>
          </a:p>
          <a:p>
            <a:pPr>
              <a:lnSpc>
                <a:spcPct val="120000"/>
              </a:lnSpc>
              <a:spcAft>
                <a:spcPts val="900"/>
              </a:spcAft>
              <a:defRPr sz="1700">
                <a:latin typeface="Times New Roman"/>
              </a:defRPr>
            </a:pPr>
            <a:r>
              <a:t>• </a:t>
            </a:r>
            <a:r>
              <a:rPr b="1">
                <a:solidFill>
                  <a:srgbClr val="000000"/>
                </a:solidFill>
              </a:rPr>
              <a:t>Tamper-Evident Audit → </a:t>
            </a:r>
            <a:r>
              <a:rPr>
                <a:solidFill>
                  <a:srgbClr val="1E293B"/>
                </a:solidFill>
              </a:rPr>
              <a:t>Uses SHA-256 hash chaining to maintain secure local audit records.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Data Flow (Technical)</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900"/>
              </a:spcAft>
              <a:defRPr sz="1700">
                <a:latin typeface="Times New Roman"/>
              </a:defRPr>
            </a:pPr>
            <a:r>
              <a:t>• </a:t>
            </a:r>
            <a:r>
              <a:rPr b="1">
                <a:solidFill>
                  <a:srgbClr val="000000"/>
                </a:solidFill>
              </a:rPr>
              <a:t>Prompt Input → </a:t>
            </a:r>
            <a:r>
              <a:rPr>
                <a:solidFill>
                  <a:srgbClr val="1E293B"/>
                </a:solidFill>
              </a:rPr>
              <a:t>User enters or pastes the prompt into the AI chatbot interface.</a:t>
            </a:r>
          </a:p>
          <a:p>
            <a:pPr>
              <a:lnSpc>
                <a:spcPct val="120000"/>
              </a:lnSpc>
              <a:spcAft>
                <a:spcPts val="900"/>
              </a:spcAft>
              <a:defRPr sz="1700">
                <a:latin typeface="Times New Roman"/>
              </a:defRPr>
            </a:pPr>
            <a:r>
              <a:t>• </a:t>
            </a:r>
            <a:r>
              <a:rPr b="1">
                <a:solidFill>
                  <a:srgbClr val="000000"/>
                </a:solidFill>
              </a:rPr>
              <a:t>Content Script → </a:t>
            </a:r>
            <a:r>
              <a:rPr>
                <a:solidFill>
                  <a:srgbClr val="1E293B"/>
                </a:solidFill>
              </a:rPr>
              <a:t>Monitors the webpage, input fields and user interactions.</a:t>
            </a:r>
          </a:p>
          <a:p>
            <a:pPr>
              <a:lnSpc>
                <a:spcPct val="120000"/>
              </a:lnSpc>
              <a:spcAft>
                <a:spcPts val="900"/>
              </a:spcAft>
              <a:defRPr sz="1700">
                <a:latin typeface="Times New Roman"/>
              </a:defRPr>
            </a:pPr>
            <a:r>
              <a:t>• </a:t>
            </a:r>
            <a:r>
              <a:rPr b="1">
                <a:solidFill>
                  <a:srgbClr val="000000"/>
                </a:solidFill>
              </a:rPr>
              <a:t>Request Interception → </a:t>
            </a:r>
            <a:r>
              <a:rPr>
                <a:solidFill>
                  <a:srgbClr val="1E293B"/>
                </a:solidFill>
              </a:rPr>
              <a:t>fetch and XMLHttpRequest requests are intercepted before transmission.</a:t>
            </a:r>
          </a:p>
          <a:p>
            <a:pPr>
              <a:lnSpc>
                <a:spcPct val="120000"/>
              </a:lnSpc>
              <a:spcAft>
                <a:spcPts val="900"/>
              </a:spcAft>
              <a:defRPr sz="1700">
                <a:latin typeface="Times New Roman"/>
              </a:defRPr>
            </a:pPr>
            <a:r>
              <a:t>• </a:t>
            </a:r>
            <a:r>
              <a:rPr b="1">
                <a:solidFill>
                  <a:srgbClr val="000000"/>
                </a:solidFill>
              </a:rPr>
              <a:t>Detection Engine → </a:t>
            </a:r>
            <a:r>
              <a:rPr>
                <a:solidFill>
                  <a:srgbClr val="1E293B"/>
                </a:solidFill>
              </a:rPr>
              <a:t>Prompt is normalized and scanned using Regex, Shannon Entropy, Luhn and PII detection.</a:t>
            </a:r>
          </a:p>
          <a:p>
            <a:pPr>
              <a:lnSpc>
                <a:spcPct val="120000"/>
              </a:lnSpc>
              <a:spcAft>
                <a:spcPts val="900"/>
              </a:spcAft>
              <a:defRPr sz="1700">
                <a:latin typeface="Times New Roman"/>
              </a:defRPr>
            </a:pPr>
            <a:r>
              <a:t>• </a:t>
            </a:r>
            <a:r>
              <a:rPr b="1">
                <a:solidFill>
                  <a:srgbClr val="000000"/>
                </a:solidFill>
              </a:rPr>
              <a:t>Decision Engine → </a:t>
            </a:r>
            <a:r>
              <a:rPr>
                <a:solidFill>
                  <a:srgbClr val="1E293B"/>
                </a:solidFill>
              </a:rPr>
              <a:t>Calculates the risk level and decides whether to Allow, Block or Redact the request.</a:t>
            </a:r>
          </a:p>
          <a:p>
            <a:pPr>
              <a:lnSpc>
                <a:spcPct val="120000"/>
              </a:lnSpc>
              <a:spcAft>
                <a:spcPts val="900"/>
              </a:spcAft>
              <a:defRPr sz="1700">
                <a:latin typeface="Times New Roman"/>
              </a:defRPr>
            </a:pPr>
            <a:r>
              <a:t>• </a:t>
            </a:r>
            <a:r>
              <a:rPr b="1">
                <a:solidFill>
                  <a:srgbClr val="000000"/>
                </a:solidFill>
              </a:rPr>
              <a:t>Local Storage → </a:t>
            </a:r>
            <a:r>
              <a:rPr>
                <a:solidFill>
                  <a:srgbClr val="1E293B"/>
                </a:solidFill>
              </a:rPr>
              <a:t>Masked audit information and configuration are stored using chrome.storage.local.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Results &amp; Discussion</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800"/>
              </a:spcAft>
              <a:defRPr sz="1700">
                <a:latin typeface="Times New Roman"/>
              </a:defRPr>
            </a:pPr>
            <a:r>
              <a:t>• </a:t>
            </a:r>
            <a:r>
              <a:rPr b="1">
                <a:solidFill>
                  <a:srgbClr val="000000"/>
                </a:solidFill>
              </a:rPr>
              <a:t>High Detection Accuracy → </a:t>
            </a:r>
            <a:r>
              <a:rPr>
                <a:solidFill>
                  <a:srgbClr val="1E293B"/>
                </a:solidFill>
              </a:rPr>
              <a:t>The system achieved 100% accuracy on the evaluated test dataset.</a:t>
            </a:r>
          </a:p>
          <a:p>
            <a:pPr>
              <a:lnSpc>
                <a:spcPct val="120000"/>
              </a:lnSpc>
              <a:spcAft>
                <a:spcPts val="800"/>
              </a:spcAft>
              <a:defRPr sz="1700">
                <a:latin typeface="Times New Roman"/>
              </a:defRPr>
            </a:pPr>
            <a:r>
              <a:t>• </a:t>
            </a:r>
            <a:r>
              <a:rPr b="1">
                <a:solidFill>
                  <a:srgbClr val="000000"/>
                </a:solidFill>
              </a:rPr>
              <a:t>Reliable Detection → </a:t>
            </a:r>
            <a:r>
              <a:rPr>
                <a:solidFill>
                  <a:srgbClr val="1E293B"/>
                </a:solidFill>
              </a:rPr>
              <a:t>Precision and recall were both reported as 100%, with an F1 score of 1.00.</a:t>
            </a:r>
          </a:p>
          <a:p>
            <a:pPr>
              <a:lnSpc>
                <a:spcPct val="120000"/>
              </a:lnSpc>
              <a:spcAft>
                <a:spcPts val="800"/>
              </a:spcAft>
              <a:defRPr sz="1700">
                <a:latin typeface="Times New Roman"/>
              </a:defRPr>
            </a:pPr>
            <a:r>
              <a:t>• </a:t>
            </a:r>
            <a:r>
              <a:rPr b="1">
                <a:solidFill>
                  <a:srgbClr val="000000"/>
                </a:solidFill>
              </a:rPr>
              <a:t>Low False Positives → </a:t>
            </a:r>
            <a:r>
              <a:rPr>
                <a:solidFill>
                  <a:srgbClr val="1E293B"/>
                </a:solidFill>
              </a:rPr>
              <a:t>The reported false positive rate was 0%, reducing unnecessary security warnings.</a:t>
            </a:r>
          </a:p>
          <a:p>
            <a:pPr>
              <a:lnSpc>
                <a:spcPct val="120000"/>
              </a:lnSpc>
              <a:spcAft>
                <a:spcPts val="800"/>
              </a:spcAft>
              <a:defRPr sz="1700">
                <a:latin typeface="Times New Roman"/>
              </a:defRPr>
            </a:pPr>
            <a:r>
              <a:t>• </a:t>
            </a:r>
            <a:r>
              <a:rPr b="1">
                <a:solidFill>
                  <a:srgbClr val="000000"/>
                </a:solidFill>
              </a:rPr>
              <a:t>Fast Processing → </a:t>
            </a:r>
            <a:r>
              <a:rPr>
                <a:solidFill>
                  <a:srgbClr val="1E293B"/>
                </a:solidFill>
              </a:rPr>
              <a:t>Average detection latency was reported to be under 25 ms.</a:t>
            </a:r>
          </a:p>
          <a:p>
            <a:pPr>
              <a:lnSpc>
                <a:spcPct val="120000"/>
              </a:lnSpc>
              <a:spcAft>
                <a:spcPts val="800"/>
              </a:spcAft>
              <a:defRPr sz="1700">
                <a:latin typeface="Times New Roman"/>
              </a:defRPr>
            </a:pPr>
            <a:r>
              <a:t>• </a:t>
            </a:r>
            <a:r>
              <a:rPr b="1">
                <a:solidFill>
                  <a:srgbClr val="000000"/>
                </a:solidFill>
              </a:rPr>
              <a:t>Test Coverage → </a:t>
            </a:r>
            <a:r>
              <a:rPr>
                <a:solidFill>
                  <a:srgbClr val="1E293B"/>
                </a:solidFill>
              </a:rPr>
              <a:t>The evaluation included 95 prompts covering clean prompts, API keys, passwords, PII and confidential data.</a:t>
            </a:r>
          </a:p>
          <a:p>
            <a:pPr>
              <a:lnSpc>
                <a:spcPct val="120000"/>
              </a:lnSpc>
              <a:spcAft>
                <a:spcPts val="800"/>
              </a:spcAft>
              <a:defRPr sz="1700">
                <a:latin typeface="Times New Roman"/>
              </a:defRPr>
            </a:pPr>
            <a:r>
              <a:t>• </a:t>
            </a:r>
            <a:r>
              <a:rPr b="1">
                <a:solidFill>
                  <a:srgbClr val="000000"/>
                </a:solidFill>
              </a:rPr>
              <a:t>Overall Result → </a:t>
            </a:r>
            <a:r>
              <a:rPr>
                <a:solidFill>
                  <a:srgbClr val="1E293B"/>
                </a:solidFill>
              </a:rPr>
              <a:t>SENTINEL demonstrated effective real-time sensitive-data detection while maintaining local, privacy-focused processing.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Challenges &amp; Solutions</a:t>
            </a:r>
          </a:p>
        </p:txBody>
      </p:sp>
      <p:sp>
        <p:nvSpPr>
          <p:cNvPr id="5" name="TextBox 4"/>
          <p:cNvSpPr txBox="1"/>
          <p:nvPr/>
        </p:nvSpPr>
        <p:spPr>
          <a:xfrm>
            <a:off x="914400" y="1371600"/>
            <a:ext cx="10362895" cy="5029200"/>
          </a:xfrm>
          <a:prstGeom prst="rect">
            <a:avLst/>
          </a:prstGeom>
          <a:noFill/>
        </p:spPr>
        <p:txBody>
          <a:bodyPr wrap="square">
            <a:spAutoFit/>
          </a:bodyPr>
          <a:lstStyle/>
          <a:p>
            <a:pPr>
              <a:lnSpc>
                <a:spcPct val="120000"/>
              </a:lnSpc>
              <a:spcAft>
                <a:spcPts val="800"/>
              </a:spcAft>
              <a:defRPr sz="1700">
                <a:latin typeface="Times New Roman"/>
              </a:defRPr>
            </a:pPr>
            <a:r>
              <a:t>• </a:t>
            </a:r>
            <a:r>
              <a:rPr b="1">
                <a:solidFill>
                  <a:srgbClr val="000000"/>
                </a:solidFill>
              </a:rPr>
              <a:t>Dynamic AI Websites → </a:t>
            </a:r>
            <a:r>
              <a:rPr>
                <a:solidFill>
                  <a:srgbClr val="1E293B"/>
                </a:solidFill>
              </a:rPr>
              <a:t>MutationObserver detects changes in webpage elements and maintains monitoring.</a:t>
            </a:r>
          </a:p>
          <a:p>
            <a:pPr>
              <a:lnSpc>
                <a:spcPct val="120000"/>
              </a:lnSpc>
              <a:spcAft>
                <a:spcPts val="800"/>
              </a:spcAft>
              <a:defRPr sz="1700">
                <a:latin typeface="Times New Roman"/>
              </a:defRPr>
            </a:pPr>
            <a:r>
              <a:t>• </a:t>
            </a:r>
            <a:r>
              <a:rPr b="1">
                <a:solidFill>
                  <a:srgbClr val="000000"/>
                </a:solidFill>
              </a:rPr>
              <a:t>React-Controlled Inputs → </a:t>
            </a:r>
            <a:r>
              <a:rPr>
                <a:solidFill>
                  <a:srgbClr val="1E293B"/>
                </a:solidFill>
              </a:rPr>
              <a:t>Native setters and synthetic events help synchronize monitored input fields.</a:t>
            </a:r>
          </a:p>
          <a:p>
            <a:pPr>
              <a:lnSpc>
                <a:spcPct val="120000"/>
              </a:lnSpc>
              <a:spcAft>
                <a:spcPts val="800"/>
              </a:spcAft>
              <a:defRPr sz="1700">
                <a:latin typeface="Times New Roman"/>
              </a:defRPr>
            </a:pPr>
            <a:r>
              <a:t>• </a:t>
            </a:r>
            <a:r>
              <a:rPr b="1">
                <a:solidFill>
                  <a:srgbClr val="000000"/>
                </a:solidFill>
              </a:rPr>
              <a:t>Obfuscated Data → </a:t>
            </a:r>
            <a:r>
              <a:rPr>
                <a:solidFill>
                  <a:srgbClr val="1E293B"/>
                </a:solidFill>
              </a:rPr>
              <a:t>Text normalization handles unusual spacing, invisible characters and Unicode variations.</a:t>
            </a:r>
          </a:p>
          <a:p>
            <a:pPr>
              <a:lnSpc>
                <a:spcPct val="120000"/>
              </a:lnSpc>
              <a:spcAft>
                <a:spcPts val="800"/>
              </a:spcAft>
              <a:defRPr sz="1700">
                <a:latin typeface="Times New Roman"/>
              </a:defRPr>
            </a:pPr>
            <a:r>
              <a:t>• </a:t>
            </a:r>
            <a:r>
              <a:rPr b="1">
                <a:solidFill>
                  <a:srgbClr val="000000"/>
                </a:solidFill>
              </a:rPr>
              <a:t>Encoded Secrets → </a:t>
            </a:r>
            <a:r>
              <a:rPr>
                <a:solidFill>
                  <a:srgbClr val="1E293B"/>
                </a:solidFill>
              </a:rPr>
              <a:t>Base64 content is decoded and scanned again for sensitive information.</a:t>
            </a:r>
          </a:p>
          <a:p>
            <a:pPr>
              <a:lnSpc>
                <a:spcPct val="120000"/>
              </a:lnSpc>
              <a:spcAft>
                <a:spcPts val="800"/>
              </a:spcAft>
              <a:defRPr sz="1700">
                <a:latin typeface="Times New Roman"/>
              </a:defRPr>
            </a:pPr>
            <a:r>
              <a:t>• </a:t>
            </a:r>
            <a:r>
              <a:rPr b="1">
                <a:solidFill>
                  <a:srgbClr val="000000"/>
                </a:solidFill>
              </a:rPr>
              <a:t>False Positives → </a:t>
            </a:r>
            <a:r>
              <a:rPr>
                <a:solidFill>
                  <a:srgbClr val="1E293B"/>
                </a:solidFill>
              </a:rPr>
              <a:t>Entropy thresholds and Luhn validation help improve detection accuracy.</a:t>
            </a:r>
          </a:p>
          <a:p>
            <a:pPr>
              <a:lnSpc>
                <a:spcPct val="120000"/>
              </a:lnSpc>
              <a:spcAft>
                <a:spcPts val="800"/>
              </a:spcAft>
              <a:defRPr sz="1700">
                <a:latin typeface="Times New Roman"/>
              </a:defRPr>
            </a:pPr>
            <a:r>
              <a:t>• </a:t>
            </a:r>
            <a:r>
              <a:rPr b="1">
                <a:solidFill>
                  <a:srgbClr val="000000"/>
                </a:solidFill>
              </a:rPr>
              <a:t>Browser Limitations → </a:t>
            </a:r>
            <a:r>
              <a:rPr>
                <a:solidFill>
                  <a:srgbClr val="1E293B"/>
                </a:solidFill>
              </a:rPr>
              <a:t>The current system focuses on browser-based AI platforms rather than terminal applications.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left_processed.png"/>
          <p:cNvPicPr>
            <a:picLocks noChangeAspect="1"/>
          </p:cNvPicPr>
          <p:nvPr/>
        </p:nvPicPr>
        <p:blipFill>
          <a:blip r:embed="rId2"/>
          <a:stretch>
            <a:fillRect/>
          </a:stretch>
        </p:blipFill>
        <p:spPr>
          <a:xfrm>
            <a:off x="365760" y="228600"/>
            <a:ext cx="1051560" cy="1051560"/>
          </a:xfrm>
          <a:prstGeom prst="rect">
            <a:avLst/>
          </a:prstGeom>
        </p:spPr>
      </p:pic>
      <p:pic>
        <p:nvPicPr>
          <p:cNvPr id="3" name="Picture 2" descr="logo_right_processed.png"/>
          <p:cNvPicPr>
            <a:picLocks noChangeAspect="1"/>
          </p:cNvPicPr>
          <p:nvPr/>
        </p:nvPicPr>
        <p:blipFill>
          <a:blip r:embed="rId3"/>
          <a:stretch>
            <a:fillRect/>
          </a:stretch>
        </p:blipFill>
        <p:spPr>
          <a:xfrm>
            <a:off x="10607040" y="182880"/>
            <a:ext cx="1234440" cy="822960"/>
          </a:xfrm>
          <a:prstGeom prst="rect">
            <a:avLst/>
          </a:prstGeom>
        </p:spPr>
      </p:pic>
      <p:sp>
        <p:nvSpPr>
          <p:cNvPr id="4" name="TextBox 3"/>
          <p:cNvSpPr txBox="1"/>
          <p:nvPr/>
        </p:nvSpPr>
        <p:spPr>
          <a:xfrm>
            <a:off x="1645920" y="365760"/>
            <a:ext cx="8899855" cy="822960"/>
          </a:xfrm>
          <a:prstGeom prst="rect">
            <a:avLst/>
          </a:prstGeom>
          <a:noFill/>
        </p:spPr>
        <p:txBody>
          <a:bodyPr wrap="square">
            <a:spAutoFit/>
          </a:bodyPr>
          <a:lstStyle/>
          <a:p>
            <a:pPr algn="ctr">
              <a:defRPr sz="3200" b="1">
                <a:solidFill>
                  <a:srgbClr val="000000"/>
                </a:solidFill>
                <a:latin typeface="Times New Roman"/>
              </a:defRPr>
            </a:pPr>
            <a:r>
              <a:t>Future Scope &amp; Conclusion</a:t>
            </a:r>
          </a:p>
        </p:txBody>
      </p:sp>
      <p:sp>
        <p:nvSpPr>
          <p:cNvPr id="5" name="TextBox 4"/>
          <p:cNvSpPr txBox="1"/>
          <p:nvPr/>
        </p:nvSpPr>
        <p:spPr>
          <a:xfrm>
            <a:off x="731520" y="1371600"/>
            <a:ext cx="5120640" cy="5029200"/>
          </a:xfrm>
          <a:prstGeom prst="rect">
            <a:avLst/>
          </a:prstGeom>
          <a:noFill/>
        </p:spPr>
        <p:txBody>
          <a:bodyPr wrap="square">
            <a:spAutoFit/>
          </a:bodyPr>
          <a:lstStyle/>
          <a:p>
            <a:pPr>
              <a:spcAft>
                <a:spcPts val="1000"/>
              </a:spcAft>
              <a:defRPr sz="2000" b="1">
                <a:latin typeface="Times New Roman"/>
              </a:defRPr>
            </a:pPr>
            <a:r>
              <a:t>Future Scope:</a:t>
            </a:r>
          </a:p>
          <a:p>
            <a:pPr>
              <a:lnSpc>
                <a:spcPct val="115000"/>
              </a:lnSpc>
              <a:spcAft>
                <a:spcPts val="800"/>
              </a:spcAft>
              <a:defRPr sz="1550">
                <a:latin typeface="Times New Roman"/>
              </a:defRPr>
            </a:pPr>
            <a:r>
              <a:t>• OCR Integration: Detect sensitive data inside screenshots and image attachments.</a:t>
            </a:r>
          </a:p>
          <a:p>
            <a:pPr>
              <a:lnSpc>
                <a:spcPct val="115000"/>
              </a:lnSpc>
              <a:spcAft>
                <a:spcPts val="800"/>
              </a:spcAft>
              <a:defRPr sz="1550">
                <a:latin typeface="Times New Roman"/>
              </a:defRPr>
            </a:pPr>
            <a:r>
              <a:t>• Enterprise SIEM: Export alerts to centralized corporate monitoring platforms.</a:t>
            </a:r>
          </a:p>
          <a:p>
            <a:pPr>
              <a:lnSpc>
                <a:spcPct val="115000"/>
              </a:lnSpc>
              <a:spcAft>
                <a:spcPts val="800"/>
              </a:spcAft>
              <a:defRPr sz="1550">
                <a:latin typeface="Times New Roman"/>
              </a:defRPr>
            </a:pPr>
            <a:r>
              <a:t>• Cross-Browser Support: Extend extension support to Firefox and Safari.</a:t>
            </a:r>
          </a:p>
          <a:p>
            <a:pPr>
              <a:lnSpc>
                <a:spcPct val="115000"/>
              </a:lnSpc>
              <a:spcAft>
                <a:spcPts val="800"/>
              </a:spcAft>
              <a:defRPr sz="1550">
                <a:latin typeface="Times New Roman"/>
              </a:defRPr>
            </a:pPr>
            <a:r>
              <a:t>• On-Device Machine Learning: Lightweight TensorFlow.js models for semantic leaks.</a:t>
            </a:r>
          </a:p>
          <a:p>
            <a:pPr>
              <a:lnSpc>
                <a:spcPct val="115000"/>
              </a:lnSpc>
              <a:spcAft>
                <a:spcPts val="800"/>
              </a:spcAft>
              <a:defRPr sz="1550">
                <a:latin typeface="Times New Roman"/>
              </a:defRPr>
            </a:pPr>
            <a:r>
              <a:t>• Multi-Platform Coverage: Support emerging enterprise AI platforms and agents.</a:t>
            </a:r>
          </a:p>
        </p:txBody>
      </p:sp>
      <p:sp>
        <p:nvSpPr>
          <p:cNvPr id="6" name="TextBox 5"/>
          <p:cNvSpPr txBox="1"/>
          <p:nvPr/>
        </p:nvSpPr>
        <p:spPr>
          <a:xfrm>
            <a:off x="6217920" y="1371600"/>
            <a:ext cx="5212080" cy="5029200"/>
          </a:xfrm>
          <a:prstGeom prst="rect">
            <a:avLst/>
          </a:prstGeom>
          <a:noFill/>
        </p:spPr>
        <p:txBody>
          <a:bodyPr wrap="square">
            <a:spAutoFit/>
          </a:bodyPr>
          <a:lstStyle/>
          <a:p>
            <a:pPr>
              <a:spcAft>
                <a:spcPts val="1000"/>
              </a:spcAft>
              <a:defRPr sz="2000" b="1">
                <a:latin typeface="Times New Roman"/>
              </a:defRPr>
            </a:pPr>
            <a:r>
              <a:t>Conclusion:</a:t>
            </a:r>
          </a:p>
          <a:p>
            <a:pPr>
              <a:lnSpc>
                <a:spcPct val="115000"/>
              </a:lnSpc>
              <a:spcAft>
                <a:spcPts val="800"/>
              </a:spcAft>
              <a:defRPr sz="1550">
                <a:latin typeface="Times New Roman"/>
              </a:defRPr>
            </a:pPr>
            <a:r>
              <a:t>• Effective Protection: Prevents irreversible corporate data leakage to public AI chatbots.</a:t>
            </a:r>
          </a:p>
          <a:p>
            <a:pPr>
              <a:lnSpc>
                <a:spcPct val="115000"/>
              </a:lnSpc>
              <a:spcAft>
                <a:spcPts val="800"/>
              </a:spcAft>
              <a:defRPr sz="1550">
                <a:latin typeface="Times New Roman"/>
              </a:defRPr>
            </a:pPr>
            <a:r>
              <a:t>• Synchronous Pre-TLS Interception: Halts sensitive prompts before network transmission.</a:t>
            </a:r>
          </a:p>
          <a:p>
            <a:pPr>
              <a:lnSpc>
                <a:spcPct val="115000"/>
              </a:lnSpc>
              <a:spcAft>
                <a:spcPts val="800"/>
              </a:spcAft>
              <a:defRPr sz="1550">
                <a:latin typeface="Times New Roman"/>
              </a:defRPr>
            </a:pPr>
            <a:r>
              <a:t>• Privacy-Preserving Design: 100% client-side evaluation with zero cloud telemetry.</a:t>
            </a:r>
          </a:p>
          <a:p>
            <a:pPr>
              <a:lnSpc>
                <a:spcPct val="115000"/>
              </a:lnSpc>
              <a:spcAft>
                <a:spcPts val="800"/>
              </a:spcAft>
              <a:defRPr sz="1550">
                <a:latin typeface="Times New Roman"/>
              </a:defRPr>
            </a:pPr>
            <a:r>
              <a:t>• Zero Human-Perceptible Lag: Sub-25ms response time ensures seamless user productivity.</a:t>
            </a:r>
          </a:p>
          <a:p>
            <a:pPr>
              <a:lnSpc>
                <a:spcPct val="115000"/>
              </a:lnSpc>
              <a:spcAft>
                <a:spcPts val="800"/>
              </a:spcAft>
              <a:defRPr sz="1550">
                <a:latin typeface="Times New Roman"/>
              </a:defRPr>
            </a:pPr>
            <a:r>
              <a:t>• Practical &amp; Deployable: Lightweight Manifest V3 architecture ready for enterprise rollout.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4_img_1.jpeg"/>
          <p:cNvPicPr>
            <a:picLocks noChangeAspect="1"/>
          </p:cNvPicPr>
          <p:nvPr/>
        </p:nvPicPr>
        <p:blipFill>
          <a:blip r:embed="rId2"/>
          <a:stretch>
            <a:fillRect/>
          </a:stretch>
        </p:blipFill>
        <p:spPr>
          <a:xfrm>
            <a:off x="2651760" y="1097280"/>
            <a:ext cx="6858000" cy="4663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